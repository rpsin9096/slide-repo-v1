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Pancreatitis Aguda Edematosa Intersticial de Origen Biliar</a:t>
            </a:r>
          </a:p>
        </p:txBody>
      </p:sp>
      <p:sp>
        <p:nvSpPr>
          <p:cNvPr id="8" name="Rectangle 7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Abdomen Agudo Inflamatorio · Actividad Integradora · 5.º Semestre · Sección 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ORGANIZACIÓN DEL GRUPO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Nómina oficial del grupo y distribución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8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2928"/>
                <a:gridCol w="2414016"/>
                <a:gridCol w="5705856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ROL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DIAPOSITIVAS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CONTENIDO A CARGO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1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3–4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Apertura, anamnesis y diagnóstico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2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5–6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Mecanismos fisiopatológicos y clínica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3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7–9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Correlación macroscópica, histopatológica e imagenológica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4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10–12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Abordaje terapéutico, prevención y síntesis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Relatoría principal: 10 minutos. Bancada de sustentación (sabatina): 5 minutos.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1675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Sabatina: alumnos 05 a 10 en los frentes de Farmacología, Semiología, Fisiopatología, Imagenología, Medicina Familiar y Patología.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CASO CLÍNICO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Presentación del caso: historia clínica inmutable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196596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8347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VIÑETA CLÍNICA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10512"/>
            <a:ext cx="49834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Montserrat"/>
              </a:rPr>
              <a:t>Paciente femenina de 38 años con enfermedad vesicular de larga evolución y cólicos biliares a repetición. Ingresa con dolor abdominal súbito, constante y de intensidad severa en epigastrio y mesogastrio.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520440"/>
            <a:ext cx="534924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57600"/>
            <a:ext cx="498347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HALLAZGOS CLÍNICOS &amp; PRUEBAS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Hipersensibilidad marcada a la palpación en hemiabdomen superior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Ruidos hidroaéreos marcadamente disminuidos: íleo paralítico reflejo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17320"/>
            <a:ext cx="5394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5448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JUICIO DIAGNÓSTICO &amp; RAZONAMIENTO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La enfermedad vesicular previa, el dolor epigástrico súbito y severo y el íleo reflejo orientan de inmediato a pancreatitis aguda de origen biliar.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520440"/>
            <a:ext cx="5394960" cy="105156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61188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B91C1C"/>
                </a:solidFill>
                <a:latin typeface="Montserrat"/>
              </a:rPr>
              <a:t>DIAGNÓSTICO DEFINITIVO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Pancreatitis aguda de origen biliar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709160"/>
            <a:ext cx="5394960" cy="1234440"/>
          </a:xfrm>
          <a:prstGeom prst="roundRect">
            <a:avLst>
              <a:gd name="adj" fmla="val 4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800600"/>
            <a:ext cx="49377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PERLA CLÍNICA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FFFFFF"/>
                </a:solidFill>
                <a:latin typeface="Montserrat"/>
              </a:rPr>
              <a:t>El antecedente litiásico, el dolor típico y la lipasa elevada cierran la etiología biliar de forma categórica.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ORIENTACIÓN DIAGNÓSTICA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Criterios de Atlanta: 3 de 3 cumplidos (se requieren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62556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45516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3687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5708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Clínica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Dolor abdominal agudo típico en hemiabdomen superior, con irradiación posterior.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223260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515868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97580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296412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Laboratorio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Elevación patológica marcada de lipasa sérica: más de 3 veces el límite superior normal.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283964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57657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55828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57116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Imagen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TC simple o contrastada con tumefacción glandular e hipodensidad líquida peripancreática.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Dx definitivo: pancreatitis edematosa intersticial litiásica. Diferenciales: úlcera perforada (descartada), colecistitis, obstrucción.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ETIOPATOGENIA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Mecanismo oclusivo biliar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6949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ENUNCIADO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6492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Microcálculos migran desde la vesícula, pasan por el colédoco y se impactan en la ampolla de Vater, bloqueando el flujo pancreático.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880360"/>
            <a:ext cx="6949440" cy="77724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508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90088"/>
            <a:ext cx="65836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 i="0">
                <a:solidFill>
                  <a:srgbClr val="2B2C4A"/>
                </a:solidFill>
                <a:latin typeface="Montserrat"/>
              </a:rPr>
              <a:t>La obstrucción transitoria eleva la presión ductal y el jugo pancreático queda estancado.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94760"/>
            <a:ext cx="3374136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794760"/>
            <a:ext cx="337413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59352"/>
            <a:ext cx="3008376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Canal común (Opie)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Impactación litiásica transitoria en la ampolla de Vater y el esfínter de Oddi.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9664" y="3794760"/>
            <a:ext cx="3374136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9664" y="3794760"/>
            <a:ext cx="337413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52544" y="3959352"/>
            <a:ext cx="3008376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Hipertensión ductal retrógrada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Obstrucción del conducto de Wirsung: estasis de secreción rica en zimógenos e hiperpresión intraductal.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90104" y="2619340"/>
            <a:ext cx="3913632" cy="216795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squema_obstruccion_amp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2655916"/>
            <a:ext cx="3840480" cy="209480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Ilustración de apoyo: el diagnóstico se apoya en la clínica y en la bioquímica.  •  Crédito: Esquema ilustrativo generado por IA; revisión anatómica del equipo según la fuente.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FISIOPATOLOGÍA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Cascada intracelular e inflamación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Pérdida de compartimentación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Colocalización anómala de gránulos de zimógeno y enzimas lisosomales en el acino.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Activación por catepsina 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La catepsina B hidroliza el tripsinógeno en tripsina activa intracelular, antes de tiempo.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Autodigestión tisular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Fosfolipasa A2 lisa membranas; elastasa degrada fibras elásticas; lipasa digiere triglicéridos retroperitoneales.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Respuesta inflamatoria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TNF-α, IL-1, IL-6 e histamina aumentan la permeabilidad capilar, secuestran volumen en el tercer espacio y predisponen a choque distributivo.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MACROSCOPÍA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Correlación macroscópica: pieza quirúrgica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Macroscopía del Caso Clínico 09 (archivo original pendiente de reinserción)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Aumento de volumen con edema pálido y placas en "gotas de vela" en la grasa peripancreática.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Flecha 1: aumento de volumen y edema pálido. Flecha 2: placas en grasa. Sin necrosis masiva.  •  Crédito: Fuente: Caso Clínico 09 (UCP), archivo original. Pendiente de reinserción.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HISTOPATOLOGÍA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Estudio histopatológico (H&amp;E): saponificación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Microscopía H&amp;E del Caso Clínico 09 (archivo original pendiente de reinserción)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Adipocitos fantasma con material basófilo y neutrófilos en septos: saponificación aguda.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Adipocitos anucleados con material basófilo amorfo; congestión e infiltrado neutrofílico.  •  Crédito: Fuente: Caso Clínico 09 (UCP), archivo original. Pendiente de reinserción.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IMAGENOLOGÍA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Evaluación por imagen y criterios anatómicos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8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600"/>
                <a:gridCol w="4876799"/>
                <a:gridCol w="3454399"/>
              </a:tblGrid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MÉTODO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 CLAVE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LECTURA CLÍNICA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Radiografía simple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Sin gas libre subdiafragmático; edema retroperitoneal y asa centinela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Descarta perforación gastroduodenal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TC contrastada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Indicada a las 72–96 h; atenuación homogénea y colecciones líquidas agudas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Balthazar C/D, sin necrosis parenquimatosa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93726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Ecografía abdominal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Imágenes hiperecogénicas móviles con sombra acústica posterior limpia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Identifica la litiasis vesicular como etiología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La TC a las 72–96 h reduce el riesgo de subestimar la necrosis; en este caso la forma es edematosa.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TRATAMIENTO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Protocolo terapéutico y conducta hospitalaria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32204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92481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0652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705356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Reanimación volémica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Ringer lactato 250–500 mL/h inicial, dirigido por metas (PAM, hematocrito, diuresis &gt; 0,5 mL/kg/h). Menor acidosis hiperclorémica que con SF 0,9 %.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92908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985515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67227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766060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Descompresión gástrica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Sonda nasogástrica ante gastroparesia refractaria, distensión masiva o íleo paralítico.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53611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046220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27931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26763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Manejo del dolor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Dipirona magnésica IV 1–2 g c/6–8 h y AINE como base; tramadol IV 50–100 mg c/8 h de rescate. Evitar morfina: espasmo del esfínter de Oddi.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814316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510692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8863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887468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Antibioticoterapia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Profilaxis antimicrobiana de rutina prohibida en formas edematosas intersticiales.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PREVENCIÓN SECUNDARIA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Colecistectomía y seguimiento en atención primaria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657600"/>
            <a:ext cx="10378440" cy="32004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184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25268" y="3534156"/>
            <a:ext cx="237744" cy="237744"/>
          </a:xfrm>
          <a:prstGeom prst="ellipse">
            <a:avLst/>
          </a:prstGeom>
          <a:noFill/>
          <a:ln w="1905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3499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55420" y="1580875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55420" y="1580875"/>
            <a:ext cx="237744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92579" y="1718035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Misma internación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Colecistectomía laparoscópica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PONCHO, 6 meses: reingreso o muerte por litiasis, 17 % con cirugía diferida frente a 5 % en el mismo ingreso.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132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4476" y="3758184"/>
            <a:ext cx="18288" cy="128015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914900" y="3886200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14900" y="3886200"/>
            <a:ext cx="2377440" cy="4572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52060" y="4023360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4–6 semanas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Vigilancia posalta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Control de posible formación de pseudoquistes pancreáticos.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80803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5395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74379" y="1580875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74379" y="1580875"/>
            <a:ext cx="237744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11539" y="1718035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APS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Prevención primaria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Ecografía ante litiasis sintomática; control de obesidad, dislipidemia y dietas hipercalóricas.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APS: atención primaria de la salud.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BIBLIOGRAFÍA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Referencias bibliográficas (Vancouver)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1170432"/>
            <a:ext cx="164592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21240" y="1170432"/>
            <a:ext cx="1645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REFERENCIAS ·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Banks PA, et al. Classification of acute pancreatitis—2012: revision of the Atlanta classification and definitions. Gut. 2013;62(1):102-111.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Leppäniemi A, Tolonen M, Tarasconi A, et al. 2019 WSES guidelines for the management of severe acute pancreatitis. World J Emerg Surg. 2019;14:27.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Tenner S, et al. American College of Gastroenterology Guideline: Management of Acute Pancreatitis. Am J Gastroenterol. 2024;119(3):419-437.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398264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398264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da Costa DW, et al. Same-admission versus delayed cholecystectomy for mild gallstone pancreatitis (PONCHO). Lancet. 2015;386(10000):1261-1268.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Kumar V, Abbas AK, Aster JC. Robbins y Cotran: Patología Estructural y Funcional. 10.ª ed. Elsevier; 2021.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Brunton LL, Hilal-Dandan R, Knollmann BC. Goodman &amp; Gilman: Las Bases Farmacológicas de la Terapéutica. 13.ª ed. McGraw-Hill; 2019.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7.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Argente HA, Álvarez ME. Semiología Médica: Fisiopatología, Semiotecnia y Propedéutica. 3.ª ed. Médica Panamericana; 2021.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Títulos abreviados por espacio; citas completas en el PDF adjunto.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ANEXO · IMAGENOLOGÍA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Ecografía vesicular: cálculo, barro y pólipo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17320"/>
          <a:ext cx="1097279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19"/>
                <a:gridCol w="4754880"/>
                <a:gridCol w="3657600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ECOGENICIDAD Y MOVILIDAD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SOMBRA POSTERIOR / CLAVE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Bilis normal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Anecoica; vesícula distendida.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Luz sin ecos internos.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Cálculo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Hiperecogénico; suele moverse con el decúbito.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Sombra acústica posterior.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Barro biliar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Ecos bajos dependientes; se desplaza o estratifica.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Habitualmente sin sombra limpia.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Pólipo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Lesión mural fija; eco intermedio; no cambia de posición.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Habitualmente sin sombra posterior.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El cálculo proyecta sombra; el pólipo es fijo y no proyecta sombra.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1675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Ayuno de 6–8 h; documentar planos longitudinal y transversal, posición y sombra acústica.</a:t>
            </a:r>
          </a:p>
        </p:txBody>
      </p:sp>
      <p:pic>
        <p:nvPicPr>
          <p:cNvPr id="12" name="Esquema didáctico de ecografía vesicular" descr="Esquema didáctico de ecografía vesicular: bilis normal anecoica, cálculo hiperecogénico con sombra acústica posterior, barro biliar con nivel y ecos bajos, y pólipo fijo sin sombra. Ilustración, no imagen clínic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383280"/>
            <a:ext cx="10972800" cy="187451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ANEXO · FISIOPATOLOGÍA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Colocalización acinar y activación del tripsinógeno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934" y="1380744"/>
            <a:ext cx="10931652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exo_acino_coloc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0" y="1417320"/>
            <a:ext cx="10858500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Catepsina B activa el tripsinógeno dentro de vacuolas ácidas del acino.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 activación ocurre en organelas ácidas, no en gránulos de cimógeno (revisión WJG, 2024).  •  Crédito: Esquema ilustrativo de código propio; no es imagen clínica.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ANEXO · FARMACOLOGÍA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Ringer lactato frente a solución fisiológica 0,9 %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934" y="1380744"/>
            <a:ext cx="10931652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exo_ringer_vs_sal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0" y="1417320"/>
            <a:ext cx="10858500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El exceso de cloruro es una hipótesis de acidosis; el lactato se metaboliza a bicarbonato.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Ringer lactato: pH cercano a 6,5, levemente ácido. Dosis según la diapositiva 10.  •  Crédito: Esquema ilustrativo de código propio; composiciones de referencia.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ANEXO · ANATOMÍA PATOLÓGICA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Pancreatitis edematosa frente a necrohemorrágica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934" y="1380744"/>
            <a:ext cx="10931652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exo_histologia_comparat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0" y="1417320"/>
            <a:ext cx="10858500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Edematosa: acinos viables y esteatonecrosis. Necrohemorrágica: destrucción y hemorragia.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Comparación de arquitectura para la sabatina; la lámina real del caso sigue pendiente.  •  Crédito: Esquema ilustrativo de código propio; no es la lámina del Caso Clínico 09.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ANEXO · FISIOLOGÍA DEL DOLOR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Vía del dolor pancreático y su proyección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934" y="1380744"/>
            <a:ext cx="10931652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exo_via_d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0" y="1417320"/>
            <a:ext cx="10858500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El dolor pancreático viaja por aferencias T5–T9 y se proyecta al epigastrio y a la espalda.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 irradiación posterior sigue el mismo territorio metamérico que las aferencias pancreáticas (T5–T9).  •  Crédito: Esquema ilustrativo de código propio; vía simplificada, no imagen clínica.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