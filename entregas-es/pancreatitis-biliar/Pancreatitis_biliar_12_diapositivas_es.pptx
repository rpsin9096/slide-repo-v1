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99713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Pancreatitis Aguda Edematosa Intersticial de Origen Biliar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384" y="4069080"/>
            <a:ext cx="146304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9448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Abdomen Agudo Inflamatorio · Actividad Integradora · 5.º Semestre · Sección 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ORGANIZACIÓN DEL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Nómina oficial del grupo y distribución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2414016"/>
                <a:gridCol w="5705856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ROL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DIAPOSITIVAS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CONTENIDO A CARGO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Relator 1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3–4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Apertura, anamnesis y diagnóstico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Relator 2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5–6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Mecanismos fisiopatológicos y clínica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Relator 3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7–9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Correlación macroscópica, histopatológica e imagenológica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Relator 4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10–12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Abordaje terapéutico, prevención y síntesis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Relatoría principal: 10 minutos. Bancada de sustentación (sabatina): 5 minutos.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1675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Sabatina: alumnos 05 a 10 en los frentes de Farmacología, Semiología, Fisiopatología, Imagenología, Medicina Familiar y Patología.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CASO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Presentación del caso: historia clínica inmutable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49240" cy="196596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834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VIÑETA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49834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</a:rPr>
              <a:t>Paciente femenina de 38 años con enfermedad vesicular de larga evolución y cólicos biliares a repetición. Ingresa con dolor abdominal súbito, constante y de intensidad severa en epigastrio y mesogastrio.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20440"/>
            <a:ext cx="53492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98347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HALLAZGOS CLÍNICOS &amp; PRUEBAS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Hipersensibilidad marcada a la palpación en hemiabdomen superior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Ruidos hidroaéreos marcadamente disminuidos: íleo paralítico reflejo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9496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JUICIO DIAGNÓSTICO &amp; RAZONAMIENTO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La enfermedad vesicular previa, el dolor epigástrico súbito y severo y el íleo reflejo orientan de inmediato a pancreatitis aguda de origen biliar.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91C1C"/>
                </a:solidFill>
                <a:latin typeface="Montserrat"/>
              </a:rPr>
              <a:t>DIAGNÓSTICO DEFINITIVO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Pancreatitis aguda de origen biliar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709160"/>
            <a:ext cx="5394960" cy="1234440"/>
          </a:xfrm>
          <a:prstGeom prst="roundRect">
            <a:avLst>
              <a:gd name="adj" fmla="val 4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800600"/>
            <a:ext cx="49377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PERLA CLÍNICA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FFFFFF"/>
                </a:solidFill>
                <a:latin typeface="Montserrat"/>
              </a:rPr>
              <a:t>El antecedente litiásico, el dolor típico y la lipasa elevada cierran la etiología biliar de forma categórica.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ORIENTACIÓN DIAGNÓSTICA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Criterios de Atlanta: 3 de 3 cumplidos (se requieren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62556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45516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3687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35708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Clínica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Dolor abdominal agudo típico en hemiabdomen superior, con irradiación posterior.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223260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515868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97580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96412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Laboratorio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Elevación patológica marcada de lipasa sérica: más de 3 veces el límite superior normal.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83964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57657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58284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57116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Imagen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TC simple o contrastada con tumefacción glandular e hipodensidad líquida peripancreática.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Dx definitivo: pancreatitis edematosa intersticial litiásica. Diferenciales: úlcera perforada (descartada), colecistitis, obstrucción.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ETIOPATOGENIA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Mecanismo oclusivo biliar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9494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ENUNCIADO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Microcálculos migran desde la vesícula, pasan por el colédoco y se impactan en la ampolla de Vater, bloqueando el flujo pancreático.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6949440" cy="77724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508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65836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2B2C4A"/>
                </a:solidFill>
                <a:latin typeface="Montserrat"/>
              </a:rPr>
              <a:t>La obstrucción transitoria eleva la presión ductal y el jugo pancreático queda estancado.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3374136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337413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3008376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Canal común (Opie)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Impactación litiásica transitoria en la ampolla de Vater y el esfínter de Oddi.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9664" y="3794760"/>
            <a:ext cx="3374136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9664" y="3794760"/>
            <a:ext cx="3374136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52544" y="3959352"/>
            <a:ext cx="3008376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Hipertensión ductal retrógrada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Obstrucción del conducto de Wirsung: estasis de secreción rica en zimógenos e hiperpresión intraductal.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0104" y="2619340"/>
            <a:ext cx="3913632" cy="216795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esquema_obstruccion_amp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655916"/>
            <a:ext cx="3840480" cy="20948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Ilustración de apoyo: el diagnóstico se apoya en la clínica y en la bioquímica.  •  Crédito: Esquema ilustrativo generado por IA; revisión anatómica del equipo según la fuente.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FISIOPATOLOGÍA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Cascada intracelular e inflamación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3520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Pérdida de compartimentación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Colocalización anómala de gránulos de zimógeno y enzimas lisosomales en el acino.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502151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42062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3520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Activación por catepsina 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La catepsina B hidroliza el tripsinógeno en tripsina activa intracelular, antes de tiempo.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502151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3520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Autodigestión tisular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Fosfolipasa A2 lisa membranas; elastasa degrada fibras elásticas; lipasa digiere triglicéridos retroperitoneales.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502151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3520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Respuesta inflamatoria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TNF-α, IL-1, IL-6 e histamina aumentan la permeabilidad capilar, secuestran volumen en el tercer espacio y predisponen a choque distributivo.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MACROSCOPÍA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Correlación macroscópica: pieza quirúrgica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4343400"/>
          </a:xfrm>
          <a:prstGeom prst="roundRect">
            <a:avLst>
              <a:gd name="adj" fmla="val 2000"/>
            </a:avLst>
          </a:prstGeom>
          <a:solidFill>
            <a:srgbClr val="EEF0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42715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50" b="0" i="0">
                <a:solidFill>
                  <a:srgbClr val="606383"/>
                </a:solidFill>
                <a:latin typeface="Montserrat"/>
              </a:rPr>
              <a:t>MARCADOR · Macroscopía del Caso Clínico 09 (archivo original pendiente de reinserción)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Aumento de volumen con edema pálido y placas en "gotas de vela" en la grasa peripancreática.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Flecha 1: aumento de volumen y edema pálido. Flecha 2: placas en grasa. Sin necrosis masiva.  •  Crédito: Fuente: Caso Clínico 09 (UCP), archivo original. Pendiente de reinserción.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HISTOPATOLOGÍA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Estudio histopatológico (H&amp;E): saponificación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10972800" cy="4343400"/>
          </a:xfrm>
          <a:prstGeom prst="roundRect">
            <a:avLst>
              <a:gd name="adj" fmla="val 2000"/>
            </a:avLst>
          </a:prstGeom>
          <a:solidFill>
            <a:srgbClr val="EEF0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42715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50" b="0" i="0">
                <a:solidFill>
                  <a:srgbClr val="606383"/>
                </a:solidFill>
                <a:latin typeface="Montserrat"/>
              </a:rPr>
              <a:t>MARCADOR · Microscopía H&amp;E del Caso Clínico 09 (archivo original pendiente de reinserción)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Adipocitos fantasma con material basófilo y neutrófilos en septos: saponificación aguda.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Adipocitos anucleados con material basófilo amorfo; congestión e infiltrado neutrofílico.  •  Crédito: Fuente: Caso Clínico 09 (UCP), archivo original. Pendiente de reinserción.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IMAGENOLOGÍA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Evaluación por imagen y criterios anatómicos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8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600"/>
                <a:gridCol w="4876799"/>
                <a:gridCol w="3454399"/>
              </a:tblGrid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MÉTODO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HALLAZGO CLAVE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LECTURA CLÍNICA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Radiografía simple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Sin gas libre subdiafragmático; edema retroperitoneal y asa centinela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Descarta perforación gastroduodenal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937259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TC contrastada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Indicada a las 72–96 h; atenuación homogénea y colecciones líquidas agudas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Balthazar C/D, sin necrosis parenquimatosa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93726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Ecografía abdominal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Imágenes hiperecogénicas móviles con sombra acústica posterior limpia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Identifica la litiasis vesicular como etiología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La TC a las 72–96 h evita subestimar la necrosis; en este caso la forma es edematosa.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TRATAMIENTO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Protocolo terapéutico y conducta hospitalaria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32204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92481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06524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05356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Reanimación volémica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Ringer lactato 250–500 mL/h inicial, dirigido por metas (PAM, hematocrito, diuresis &gt; 0,5 mL/kg/h). Menor acidosis hiperclorémica que con SF 0,9 %.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92908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985515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67227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66060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Descompresión gástrica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Sonda nasogástrica ante gastroparesia refractaria, distensión masiva o íleo paralítico.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53611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046220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7931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26763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Manejo del dolor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Dipirona magnésica IV 1–2 g c/6–8 h como base; tramadol IV 50–100 mg c/8 h de rescate. Evitar morfina: induce espasmo del esfínter de Oddi.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14316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10692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8863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87468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Antibioticoterapia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Profilaxis antimicrobiana de rutina prohibida en formas edematosas intersticiales.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PREVENCIÓN SECUNDARIA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Colecistectomía y seguimiento en atención primaria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10378440" cy="32004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1844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25268" y="3534156"/>
            <a:ext cx="237744" cy="237744"/>
          </a:xfrm>
          <a:prstGeom prst="ellipse">
            <a:avLst/>
          </a:prstGeom>
          <a:noFill/>
          <a:ln w="1905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4996" y="3429000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55420" y="1580875"/>
            <a:ext cx="2377440" cy="18481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55420" y="1580875"/>
            <a:ext cx="2377440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2579" y="1718035"/>
            <a:ext cx="2103120" cy="1573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Misma internación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Colecistectomía laparoscópica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Tras remitir la clínica aguda (PONCHO). Previene la recidiva biliar: 30 % a 90 días sin cirugía.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21324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4476" y="3758184"/>
            <a:ext cx="18288" cy="128015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14900" y="3886200"/>
            <a:ext cx="2377440" cy="18481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4900" y="3886200"/>
            <a:ext cx="2377440" cy="4572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52060" y="4023360"/>
            <a:ext cx="2103120" cy="1573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4–6 semanas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Vigilancia posalta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Control de posible formación de pseudoquistes pancreáticos.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80803" y="358902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3956" y="3429000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74379" y="1580875"/>
            <a:ext cx="2377440" cy="18481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74379" y="1580875"/>
            <a:ext cx="2377440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1539" y="1718035"/>
            <a:ext cx="2103120" cy="15738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APS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854CC"/>
                </a:solidFill>
                <a:latin typeface="Montserrat"/>
              </a:rPr>
              <a:t>Prevención primaria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Ecografía ante litiasis sintomática; control de obesidad, dislipidemia y dietas hipercalóricas.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APS: atención primaria de la salud.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BIBLIOGRAFÍA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Referencias bibliográficas (Vancouver)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170432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21240" y="1170432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REFERENCIAS ·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Banks PA, et al. Classification of acute pancreatitis—2012: revision of the Atlanta classification and definitions. Gut. 2013;62(1):102-111.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Tenner S, et al. American College of Gastroenterology Guideline: Management of Acute Pancreatitis. Am J Gastroenterol. 2024;119(3):419-437.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57015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57015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da Costa DW, et al. Same-admission versus delayed cholecystectomy for mild gallstone pancreatitis (PONCHO). Lancet. 2015;386(10000):1261-1268.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Kumar V, Abbas AK, Aster JC. Robbins y Cotran: Patología Estructural y Funcional. 10.ª ed. Elsevier; 2021.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Brunton LL, Hilal-Dandan R, Knollmann BC. Goodman &amp; Gilman: Las Bases Farmacológicas de la Terapéutica. 13.ª ed. McGraw-Hill; 2019.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557015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57015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Argente HA, Álvarez ME. Semiología Médica: Fisiopatología, Semiotecnia y Propedéutica. 3.ª ed. Médica Panamericana; 2021.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Títulos abreviados por espacio; citas completas en el PDF adjunto.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ANEXO · IMAGENOLOGÍA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Ecografía vesicular: cálculo, barro y pólipo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UNIVERSIDAD CENTRAL DEL PARAGUAY (UCP) · 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/>
                <a:gridCol w="4754880"/>
                <a:gridCol w="3657600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HALLAZGO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ECOGENICIDAD Y MOVILIDAD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SOMBRA POSTERIOR / CLAVE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Bilis normal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Anecoica; vesícula distendida.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Luz sin ecos internos.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Cálculo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Hiperecogénico; suele moverse con el decúbito.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Sombra acústica posterior.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Barro biliar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Ecos bajos dependientes; se desplaza o estratifica.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Habitualmente sin sombra limpia.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Pólipo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Lesión mural fija; no cambia de posición.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Habitualmente sin sombra posterior.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El cálculo proyecta sombra; el pólipo es fijo y no proyecta sombra.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1675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Ayuno de 6–8 h; documentar planos longitudinal y transversal, posición y sombra acústica.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