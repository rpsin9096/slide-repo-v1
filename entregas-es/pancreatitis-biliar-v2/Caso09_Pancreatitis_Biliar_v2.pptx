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640080"/>
            <a:ext cx="10728655" cy="5577840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234440"/>
            <a:ext cx="999713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FFFFFF"/>
                </a:solidFill>
                <a:latin typeface="Montserrat"/>
              </a:rPr>
              <a:t>UNIVERSIDAD CENTRAL DEL PARAGUAY — CENTRO TECNOLÓGICO 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9997135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3800" b="1" i="0">
                <a:solidFill>
                  <a:srgbClr val="FFFFFF"/>
                </a:solidFill>
                <a:latin typeface="Montserrat"/>
              </a:rPr>
              <a:t>Caso Clínico 09: Abdomen Agudo de Origen Pancreatobiliar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358384" y="4069080"/>
            <a:ext cx="146304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4343400"/>
            <a:ext cx="944849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500" b="0" i="1">
                <a:solidFill>
                  <a:srgbClr val="E0E4FF"/>
                </a:solidFill>
                <a:latin typeface="Montserrat"/>
              </a:rPr>
              <a:t>Seminario Integrador · Quinto Semestre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349240"/>
            <a:ext cx="944849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000" b="1" i="0">
                <a:solidFill>
                  <a:srgbClr val="E0E4FF"/>
                </a:solidFill>
                <a:latin typeface="Montserrat"/>
              </a:rPr>
              <a:t>CIUDAD DEL ESTE, PARAGUAY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EQUIPO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Nómina de integrantes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5230"/>
                <a:gridCol w="5275384"/>
                <a:gridCol w="2532184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PARTICIPACIÓN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INTEGRANTE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MATRÍCULA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uno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[Apellidos, nombres]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[Número de matrícula]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dos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[Apellidos, nombres]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[Número de matrícula]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tres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[Apellidos, nombres]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[Número de matrícula]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Relator cuatro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[Apellidos, nombres]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[Número de matrícula]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Cuatro relatores en tribuna (diez minutos); bancada de sustentación para la sabatina (cinco minutos).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Completar los diez a doce integrantes en orden alfabético antes de la defensa.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CASO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Historia clínica inmutable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5349240" cy="196596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54480"/>
            <a:ext cx="4983479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VIÑETA CLÍNICA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810512"/>
            <a:ext cx="4983479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150" b="0" i="0">
                <a:solidFill>
                  <a:srgbClr val="FFFFFF"/>
                </a:solidFill>
                <a:latin typeface="Montserrat"/>
              </a:rPr>
              <a:t>Mujer de treinta y ocho años con colelitiasis de larga data que ingresa por dolor brusco, constante y severo en epigastrio.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520440"/>
            <a:ext cx="5349240" cy="24231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657600"/>
            <a:ext cx="4983479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5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HALLAZGOS CLÍNICOS &amp; PRUEBAS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Hipersensibilidad marcada en hemiabdomen superior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Ruidos hidroaéreos disminuidos (íleo paralítico reflejo)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• Lipasa elevada; sin neumoperitoneo; tomografía con edema peripancreático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17320"/>
            <a:ext cx="5394960" cy="196596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554480"/>
            <a:ext cx="49377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000" b="1" i="0">
                <a:solidFill>
                  <a:srgbClr val="CA2728"/>
                </a:solidFill>
                <a:latin typeface="Montserrat"/>
              </a:rPr>
              <a:t>JUICIO DIAGNÓSTICO &amp; RAZONAMIENTO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Antecedente litiásico más dolor típico más lipasa elevada más hallazgos imagenológicos orientan a pancreatitis biliar.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520440"/>
            <a:ext cx="5394960" cy="105156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611880"/>
            <a:ext cx="49377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B91C1C"/>
                </a:solidFill>
                <a:latin typeface="Montserrat"/>
              </a:rPr>
              <a:t>DIAGNÓSTICO DEFINITIVO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Pancreatitis aguda litiásica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4709160"/>
            <a:ext cx="5394960" cy="1234440"/>
          </a:xfrm>
          <a:prstGeom prst="roundRect">
            <a:avLst>
              <a:gd name="adj" fmla="val 4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800600"/>
            <a:ext cx="4937760" cy="1051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1" i="0">
                <a:solidFill>
                  <a:srgbClr val="FFFFFF"/>
                </a:solidFill>
                <a:latin typeface="Montserrat"/>
              </a:rPr>
              <a:t>PERLA CLÍNICA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FFFFFF"/>
                </a:solidFill>
                <a:latin typeface="Montserrat"/>
              </a:rPr>
              <a:t>La tríada litiásica más dolor en cinturón más lipasa por encima de tres veces lo normal cierra la etiología biliar.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JUICIO CLÍNICO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Criterios Atlanta 2012: tres de tres cumplidos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632204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924812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906524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1705356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Clínica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Dolor agudo típico en epigastrio y mesogastrio con irradiación dorsal en cinturón.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" y="2692908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77240" y="2985515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67227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2766060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Laboratorio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Lipasa sérica por encima de tres veces el límite superior normal (elevada entre siete y catorce días; ventana diagnóstica más amplia que la amilasa).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753611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77240" y="4046220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27931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826763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Imagen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Tomografía con tumefacción glandular, colecciones líquidas y densificación de la grasa peripancreática (grado Balthazar C-D).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814316"/>
            <a:ext cx="10972800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5106924"/>
            <a:ext cx="329184" cy="329184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 w="15240">
            <a:solidFill>
              <a:srgbClr val="186E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088636"/>
            <a:ext cx="32918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400" b="1" i="0">
                <a:solidFill>
                  <a:srgbClr val="186E48"/>
                </a:solidFill>
                <a:latin typeface="Montserrat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4887468"/>
            <a:ext cx="10195560" cy="7680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Exclusiones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Signo de Jobert negativo; Murphy no focal; electrocardiograma y troponinas normales que descartan infarto.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Diagnóstico definitivo: pancreatitis aguda edematosa intersticial litiásica.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MACROSCOPÍA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Hallazgos macroscópicos de la pieza quirúrgica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6434" y="1380744"/>
            <a:ext cx="9788652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nel_05_mac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" y="1417320"/>
            <a:ext cx="971550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Glándula tumefacta: congestión y petequias, y esteatonecrosis peripancreática en «gotas de cera».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Clasificación Atlanta 2012: forma edematosa intersticial (grado Balthazar C-D), sin necrosis hemorrágica.  •  Crédito: Fotografía macroscópica del Caso 09 (Carrera de Medicina, UCP).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HISTOPATOLOGÍA (H Y 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Esteatonecrosis con saponificación cálcica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86434" y="1380744"/>
            <a:ext cx="9788652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nel_06_his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3010" y="1417320"/>
            <a:ext cx="9715500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① Adipocitos «fantasma»; ② necrosis acinar yuxtapuesta; ③ neutrófilos y calcio basófilo.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Los depósitos basófilos son jabones cálcicos insolubles formados sobre ácidos grasos libres.  •  Crédito: Micrografía en hematoxilina y eosina del Caso 09 (Carrera de Medicina, UCP).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FISIOPATOLOGÍA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Cascada etiopatogénica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694944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417320"/>
            <a:ext cx="82296" cy="1325880"/>
          </a:xfrm>
          <a:prstGeom prst="rect">
            <a:avLst/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68680" y="1536192"/>
            <a:ext cx="1463040" cy="219456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1536192"/>
            <a:ext cx="1463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ENUNCIADO CENTRAL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1810512"/>
            <a:ext cx="6492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550" b="1" i="0">
                <a:solidFill>
                  <a:srgbClr val="3854CC"/>
                </a:solidFill>
                <a:latin typeface="Montserrat"/>
              </a:rPr>
              <a:t>Un microcálculo en la ampolla de Vater eleva la presión retrógrada en el conducto de Wirsung y activa de forma prematura el tripsinógeno dentro del acino.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2880360"/>
            <a:ext cx="6949440" cy="777240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508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990088"/>
            <a:ext cx="6583679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300"/>
              </a:spcAft>
            </a:pPr>
            <a:r>
              <a:rPr sz="1200" b="0" i="0">
                <a:solidFill>
                  <a:srgbClr val="2B2C4A"/>
                </a:solidFill>
                <a:latin typeface="Montserrat"/>
              </a:rPr>
              <a:t>La activación enzimática intracelular explica tanto la morfología macroscópica como el patrón de lesión histológica.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794760"/>
            <a:ext cx="2182367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3794760"/>
            <a:ext cx="2182367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959352"/>
            <a:ext cx="1816607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① Bloqueo ampolar (hipótesis de Opie)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Impactación litiásica transitoria; hipertensión retrógrada y reflujo biliar dentro del conducto pancreático.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77895" y="3794760"/>
            <a:ext cx="2182367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977895" y="3794760"/>
            <a:ext cx="2182367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0776" y="3959352"/>
            <a:ext cx="1816607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② Fusión y colocalización zimógeno-lisosoma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En vacuolas ácidas, la catepsina B escinde el tripsinógeno en tripsina activa (el inhibidor SPINK1 es rebasado).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361432" y="3794760"/>
            <a:ext cx="2182367" cy="224027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61432" y="3794760"/>
            <a:ext cx="2182367" cy="45720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44312" y="3959352"/>
            <a:ext cx="1816607" cy="19659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③ Autodigestión tisular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La elastasa produce congestión y petequias; la fosfolipasa A subíndice dos produce necrosis acinar; la lipasa produce saponificación.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90104" y="2619340"/>
            <a:ext cx="3913632" cy="2167959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esquema_obstruccion_amp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2655916"/>
            <a:ext cx="3840480" cy="2094807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tripsina activa es el gatillo común de las tres lesiones enzimáticas.  •  Crédito: Esquema anatómico; la colocalización acinar se detalla en el anexo.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SEMIOLOGÍA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Vía del dolor y correlación clínica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5895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Distensión pancreática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El edema y el estrés capsular activan los nociceptores viscerales.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4324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1757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 w="1270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216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8216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45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Fibras A delta y C esplácnicas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E0E4FF"/>
                </a:solidFill>
                <a:latin typeface="Montserrat"/>
              </a:rPr>
              <a:t>Aferencias viscerales que conducen al plexo celíaco.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66459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078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640537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537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23660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Plexo celíaco y segmentos T5 a T9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Asta dorsal medular; vía espinotalámica hasta el tálamo.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789670" y="3044952"/>
            <a:ext cx="228599" cy="219456"/>
          </a:xfrm>
          <a:prstGeom prst="rightArrow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063990" y="1508760"/>
            <a:ext cx="2503170" cy="329184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228582" y="1673351"/>
            <a:ext cx="731520" cy="256032"/>
          </a:xfrm>
          <a:prstGeom prst="roundRect">
            <a:avLst>
              <a:gd name="adj" fmla="val 8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8582" y="1673351"/>
            <a:ext cx="73152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6869" y="2039112"/>
            <a:ext cx="2137410" cy="2606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600"/>
              </a:spcAft>
            </a:pPr>
            <a:r>
              <a:rPr sz="1350" b="1" i="0">
                <a:solidFill>
                  <a:srgbClr val="3854CC"/>
                </a:solidFill>
                <a:latin typeface="Montserrat"/>
              </a:rPr>
              <a:t>Dolor en cinturón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 i="0">
                <a:solidFill>
                  <a:srgbClr val="2B2C4A"/>
                </a:solidFill>
                <a:latin typeface="Montserrat"/>
              </a:rPr>
              <a:t>Epigastrio y mesogastrio con irradiación dorsal metamérica.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94360" y="5029200"/>
            <a:ext cx="10972800" cy="1005839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635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60" y="51206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300"/>
              </a:spcAft>
            </a:pPr>
            <a:r>
              <a:rPr sz="1150" b="0" i="0">
                <a:solidFill>
                  <a:srgbClr val="2B2C4A"/>
                </a:solidFill>
                <a:latin typeface="Montserrat"/>
              </a:rPr>
              <a:t>El peritonismo químico en la transcavidad de los epiplones (hipersensibilidad en hemiabdomen superior) y el íleo paralítico reflejo por inhibición del plexo mientérico de Auerbach (ruidos hidroaéreos disminuidos) completan la tríada semiológica del caso.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6089904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Los ruidos disminuidos indican íleo paralítico reflejo, no una oclusión mecánica.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Biomarcadores y evaluación imagenológica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09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9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5073"/>
                <a:gridCol w="4620126"/>
                <a:gridCol w="3657600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MÉTODO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HALLAZGO EN EL CASO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LECTURA CLÍNICA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Lipasa sérica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Mayor de tres veces el límite superior normal; sensibilidad 95 por ciento y especificidad 99 por ciento; elevada entre siete y catorce días.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Confirma la pancreatitis aguda según Atlanta 2012.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Ecografía vesicular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Imagen hiperecogénica móvil con sombra acústica posterior limpia.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Identifica la litiasis como causa etiológica.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Radiografía simple de abdomen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Signo de Jobert negativo; borramiento del psoas; asa centinela y gas difuso.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Descarta perforación; orienta a edema retroperitoneal e íleo.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Tomografía con contraste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Glándula aumentada de tamaño; líquido y densidad grasa peripancreáticos; sin necrosis por encima de 30 por ciento.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Grado Balthazar C-D (edematosa); guía el manejo.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lipasa confirma; la ecografía identifica la causa; la radiografía descarta perforación; la tomografía estratifica.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El gráfico con los valores de sensibilidad y especificidad de lipasa y amilasa se presenta en el anexo de diagnóstico.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TRATAMIENTO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Soporte farmacológico y medidas en sala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10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" y="1463040"/>
          <a:ext cx="10972798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3372"/>
                <a:gridCol w="3123027"/>
                <a:gridCol w="2616590"/>
                <a:gridCol w="2869809"/>
              </a:tblGrid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RECURSO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MECANISMO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PAUTA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8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FFFFFF"/>
                          </a:solidFill>
                          <a:latin typeface="Montserrat"/>
                        </a:rPr>
                        <a:t>REACCIONES ADVERSAS Y MATICES</a:t>
                      </a:r>
                    </a:p>
                  </a:txBody>
                  <a:tcPr marL="128016" marR="128016" marT="73152" marB="73152">
                    <a:solidFill>
                      <a:srgbClr val="3854CC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Ringer lactato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Cristaloide balanceado (109 miliequivalentes por litro de cloruro); el lactato se transforma en bicarbonato en el hígado y evita la acidosis hiperclorémica.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Doscientos a doscientos cincuenta mililitros por hora; bolo de diez a veinte por kilo si inestabilidad; orina sobre 0,5 mililitros por kilo cada hora.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Sobrecarga volumétrica; vigilar el potasio si existe insuficiencia renal.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Tramadol (con rescate de fentanilo)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Agonista del receptor opioide mu más inhibición de la recaptación de noradrenalina y serotonina; ofrece analgesia sin espasmo franco del esfínter de Oddi.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Tramadol: cincuenta a cien miligramos en vena cada seis u ocho horas (cuatrocientos al día); fentanilo: uno o dos microgramos por kilo si refractario.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Náuseas, vómitos, sedación, mareo, estreñimiento.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  <a:tr h="749807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Ondansetrón más omeprazol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Antiemesis por antagonismo del receptor de serotonina 5-HT subíndice tres; inhibición de la bomba H+/K+ ATPasa para gastroprotección.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Ondansetrón: cuatro a ocho miligramos por vía intravenosa cada ocho horas; omeprazol: cuarenta miligramos por vía intravenosa al día.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Cefalea, prolongación asintomática del intervalo QT; diarrea leve, malestar epigástrico.</a:t>
                      </a:r>
                    </a:p>
                  </a:txBody>
                  <a:tcPr marL="128016" marR="128016" marT="54864" marB="54864">
                    <a:solidFill>
                      <a:srgbClr val="FFFFFF"/>
                    </a:solidFill>
                  </a:tcPr>
                </a:tc>
              </a:tr>
              <a:tr h="749811"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>
                          <a:solidFill>
                            <a:srgbClr val="3854CC"/>
                          </a:solidFill>
                          <a:latin typeface="Montserrat"/>
                        </a:rPr>
                        <a:t>Sonda nasogástrica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Descompresión mecánica por íleo paralítico con distensión refractaria; previene la broncoaspiración.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No es de rutina; se indica sólo ante vómitos persistentes o estasis gástrica.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>
                          <a:solidFill>
                            <a:srgbClr val="2B2C4A"/>
                          </a:solidFill>
                          <a:latin typeface="Montserrat"/>
                        </a:rPr>
                        <a:t>Molestia faríngea; sinusitis si el uso se prolonga.</a:t>
                      </a:r>
                    </a:p>
                  </a:txBody>
                  <a:tcPr marL="128016" marR="128016" marT="54864" marB="54864">
                    <a:solidFill>
                      <a:srgbClr val="EEF0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94360" y="5394959"/>
            <a:ext cx="10972800" cy="530352"/>
          </a:xfrm>
          <a:prstGeom prst="roundRect">
            <a:avLst>
              <a:gd name="adj" fmla="val 4000"/>
            </a:avLst>
          </a:prstGeom>
          <a:solidFill>
            <a:srgbClr val="EEF0FF"/>
          </a:solidFill>
          <a:ln w="11430">
            <a:solidFill>
              <a:srgbClr val="D92A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440679"/>
            <a:ext cx="10515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150" b="1" i="0">
                <a:solidFill>
                  <a:srgbClr val="3854CC"/>
                </a:solidFill>
                <a:latin typeface="Montserrat"/>
              </a:rPr>
              <a:t>CONCLUSIÓN EDITORIAL:  La fluidoterapia agresiva con Ringer lactato en las primeras veinticuatro horas es la piedra angular del tratamiento.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16752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El comparativo bioquímico entre Ringer lactato y solución fisiológica al 0,9 por ciento se muestra en el anexo de farmacología.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RESOLUCIÓN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Resolución definitiva y prevención de recurrencias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888236"/>
            <a:ext cx="822960" cy="10972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888236"/>
            <a:ext cx="822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996696" y="2985516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554480" y="1888236"/>
            <a:ext cx="100126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83080" y="1961388"/>
            <a:ext cx="950976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Colecistectomía laparoscópica precoz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Durante la misma internación tras la resolución; postergarla se asocia con un 17 a 30 por ciento de recidiva (ensayo PONCHO, Lancet 2015).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" y="3131820"/>
            <a:ext cx="822960" cy="10972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3131820"/>
            <a:ext cx="822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02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6696" y="4229100"/>
            <a:ext cx="18288" cy="14630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554480" y="3131820"/>
            <a:ext cx="100126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83080" y="3204972"/>
            <a:ext cx="950976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Colangiopancreatografía retrógrada endoscópica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En las primeras veinticuatro a cuarenta y ocho horas sólo ante colangitis bacteriana, ictericia obstructiva progresiva o sepsis.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75404"/>
            <a:ext cx="822960" cy="1097280"/>
          </a:xfrm>
          <a:prstGeom prst="roundRect">
            <a:avLst>
              <a:gd name="adj" fmla="val 4000"/>
            </a:avLst>
          </a:prstGeom>
          <a:solidFill>
            <a:srgbClr val="385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375404"/>
            <a:ext cx="82296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1600" b="1" i="0">
                <a:solidFill>
                  <a:srgbClr val="FFFFFF"/>
                </a:solidFill>
                <a:latin typeface="Montserrat"/>
              </a:rPr>
              <a:t>03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4375404"/>
            <a:ext cx="10012680" cy="10972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7620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783080" y="4448556"/>
            <a:ext cx="9509760" cy="9509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3854CC"/>
                </a:solidFill>
                <a:latin typeface="Montserrat"/>
              </a:rPr>
              <a:t>Prevención y seguimiento en atención primaria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300"/>
              </a:spcAft>
            </a:pPr>
            <a:r>
              <a:rPr sz="1080" b="0" i="0">
                <a:solidFill>
                  <a:srgbClr val="2B2C4A"/>
                </a:solidFill>
                <a:latin typeface="Montserrat"/>
              </a:rPr>
              <a:t>Dieta hipolipídica, suspensión del alcohol; vigilancia ecográfica a las cuatro a seis semanas para descartar pseudoquistes.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Resolver la causa es prevenir recurrencias potencialmente letales.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BIBLIOGRAFÍA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Referencias bibliográficas (estilo Vancouver)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21240" y="1170432"/>
            <a:ext cx="1645920" cy="310896"/>
          </a:xfrm>
          <a:prstGeom prst="roundRect">
            <a:avLst>
              <a:gd name="adj" fmla="val 12000"/>
            </a:avLst>
          </a:prstGeom>
          <a:solidFill>
            <a:srgbClr val="EEF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21240" y="1170432"/>
            <a:ext cx="164592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3854CC"/>
                </a:solidFill>
                <a:latin typeface="Montserrat"/>
              </a:rPr>
              <a:t>REFERENCIAS · 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Kumar V, Abbas AK, Aster JC. Robbins y Cotran: Patología estructural y funcional. Décima edición. Elsevier; 2021. Capítulo 19; páginas 953-968.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2.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Loscalzo J, et al. Harrison: Principios de medicina interna. Vigésima primera edición. McGraw-Hill; 2022. Capítulo 347; páginas 2515-2531.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57015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557015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Argente HA, Álvarez ME. Semiología médica. Tercera edición. Médica Panamericana; 2021. Sección V; páginas 690-710.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1874519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4.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874519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Brunton LL, et al. Goodman y Gilman: Bases farmacológicas de la terapéutica. Decimocuarta edición. McGraw-Hill; 2023. Sección II; páginas 385-410.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715768"/>
            <a:ext cx="411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00" b="1" i="0">
                <a:solidFill>
                  <a:srgbClr val="CA2728"/>
                </a:solidFill>
                <a:latin typeface="Montserrat"/>
              </a:rPr>
              <a:t>5.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2715768"/>
            <a:ext cx="48920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300"/>
              </a:spcAft>
            </a:pPr>
            <a:r>
              <a:rPr sz="1050" b="0" i="0">
                <a:solidFill>
                  <a:srgbClr val="2B2C4A"/>
                </a:solidFill>
                <a:latin typeface="Montserrat"/>
              </a:rPr>
              <a:t>da Costa DW, et al. Same-admission versus delayed cholecystectomy for mild gallstone pancreatitis (estudio PONCHO). Lancet. 2015;386:1261-1268.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Quedamos a disposición de la mesa examinadora para la sabatina.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ANEXO · FISIOPATOLOGÍA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Colocalización acinar y activación del tripsinógeno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55286" y="1380744"/>
            <a:ext cx="9450947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exo_acino_colocaliz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862" y="1417320"/>
            <a:ext cx="937779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 catepsina B activa el tripsinógeno dentro de vacuolas ácidas, no en los gránulos de cimógeno.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activación prematura es el gatillo enzimático del daño tisular.  •  Crédito: Esquema didáctico; no es una imagen clínica.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ANEXO · FISIOLOGÍA DEL DOLOR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Vía del dolor pancreático y proyección metamérica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12196" y="1380744"/>
            <a:ext cx="10137127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exo_via_d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772" y="1417320"/>
            <a:ext cx="10063975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Las aferencias A delta y C al plexo celíaco (T5 a T9) producen dolor en cinturón con irradiación dorsal.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Apoya la explicación del patrón de irradiación dorsal.  •  Crédito: Esquema didáctico; no es una imagen clínica.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ANEXO · DIAGNÓSTICO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Cinética de lipasa y amilasa séricas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08858" y="1380744"/>
            <a:ext cx="7143803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panel_09_lipas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5434" y="1417320"/>
            <a:ext cx="7070651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Lipasa 95/99 (7 a 14 días); amilasa 82/88 (48 a 72 horas), sensibilidad y especificidad.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ventana diagnóstica de la lipasa es mayor que la de la amilasa debido a su vida media más prolongada.  •  Crédito: Gráfico elaborado por el equipo.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ANEXO · IMAGENOLOGÍA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Ecografía vesicular: cálculo, barro y pólipo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57784" y="1756894"/>
            <a:ext cx="11045952" cy="366425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ecografia_vesicular_esqu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793470"/>
            <a:ext cx="10972800" cy="35910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El cálculo es hiperecogénico, móvil, con sombra acústica posterior; el pólipo es fijo y no produce sombra.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El esquema aclara por qué la sombra acústica identifica una litiasis.  •  Crédito: Esquema didáctico; no es una imagen clínica.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ANEXO · FARMACOLOGÍA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Ringer lactato frente a solución fisiológica al 0,9 por ciento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2070" y="1380744"/>
            <a:ext cx="8957379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exo_ringer_vs_sal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46" y="1417320"/>
            <a:ext cx="8884227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La solución fisiológica favorece la acidosis; el Ringer lactato es la elección inicial.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resucitación guiada por metas valora la diuresis, la presión arterial media y el lactato sérico.  •  Crédito: Esquema didáctico; composiciones de referencia.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058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50" b="1" i="0">
                <a:solidFill>
                  <a:srgbClr val="CA2728"/>
                </a:solidFill>
                <a:latin typeface="Montserrat"/>
              </a:rPr>
              <a:t>ANEXO · ANATOMÍA PATOLÓGICA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530352"/>
            <a:ext cx="109728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2300" b="1" i="0">
                <a:solidFill>
                  <a:srgbClr val="3854CC"/>
                </a:solidFill>
                <a:latin typeface="Montserrat"/>
              </a:rPr>
              <a:t>Pancreatitis edematosa frente a necrohemorrágica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170432"/>
            <a:ext cx="1188720" cy="27432"/>
          </a:xfrm>
          <a:prstGeom prst="rect">
            <a:avLst/>
          </a:prstGeom>
          <a:solidFill>
            <a:srgbClr val="D92A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10512" y="1179576"/>
            <a:ext cx="9784080" cy="9144"/>
          </a:xfrm>
          <a:prstGeom prst="rect">
            <a:avLst/>
          </a:prstGeom>
          <a:solidFill>
            <a:srgbClr val="D9DD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6382512"/>
            <a:ext cx="77724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0">
                <a:solidFill>
                  <a:srgbClr val="606383"/>
                </a:solidFill>
                <a:latin typeface="Montserrat"/>
              </a:rPr>
              <a:t>CARRERA DE MEDICINA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382512"/>
            <a:ext cx="82296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8000"/>
              </a:lnSpc>
              <a:spcAft>
                <a:spcPts val="300"/>
              </a:spcAft>
            </a:pPr>
            <a:r>
              <a:rPr sz="900" b="1" i="0">
                <a:solidFill>
                  <a:srgbClr val="606383"/>
                </a:solidFill>
                <a:latin typeface="Montserrat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2070" y="1380744"/>
            <a:ext cx="8957379" cy="4416552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D9DD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nexo_histologia_comparativ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8646" y="1417320"/>
            <a:ext cx="8884227" cy="43434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760720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050" b="0" i="1">
                <a:solidFill>
                  <a:srgbClr val="2B2C4A"/>
                </a:solidFill>
                <a:latin typeface="Montserrat"/>
              </a:rPr>
              <a:t>Edematosa (nuestro caso): acinos viables, esteatonecrosis focal; necrohemorrágica: destrucción y hemorragia.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053328"/>
            <a:ext cx="10972800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900" b="0" i="1">
                <a:solidFill>
                  <a:srgbClr val="606383"/>
                </a:solidFill>
                <a:latin typeface="Montserrat"/>
              </a:rPr>
              <a:t>La clasificación de Atlanta 2012 distingue claramente ambas formas.  •  Crédito: Esquema comparativo; no es la lámina del Caso 09.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