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99713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Semiotecnia del tórax y aparato respiratorio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358384" y="4069080"/>
            <a:ext cx="146304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343400"/>
            <a:ext cx="94484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Cuatro tiempos para leer la caja torácica, la ventilación y el parénquima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49240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00" b="1" i="0">
                <a:solidFill>
                  <a:srgbClr val="E0E4FF"/>
                </a:solidFill>
                <a:latin typeface="Montserrat"/>
              </a:rPr>
              <a:t>UCP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APERTURA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Objetivos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70432"/>
            <a:ext cx="265176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70432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OBJETIVOS DE APRENDIZAJE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65960"/>
            <a:ext cx="10972800" cy="8915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965960"/>
            <a:ext cx="64008" cy="8915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21056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1056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057400"/>
            <a:ext cx="8092440" cy="7086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3854CC"/>
                </a:solidFill>
                <a:latin typeface="Montserrat"/>
              </a:rPr>
              <a:t>NOMBRAR — </a:t>
            </a:r>
            <a:r>
              <a:rPr sz="1150">
                <a:solidFill>
                  <a:srgbClr val="2B2C4A"/>
                </a:solidFill>
                <a:latin typeface="Montserrat"/>
              </a:rPr>
              <a:t>los cuatro tiempos del examen respiratorio y el orden en que se suceden.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2256282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256282"/>
            <a:ext cx="1691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CA2728"/>
                </a:solidFill>
                <a:latin typeface="Montserrat"/>
              </a:rPr>
              <a:t>RECORDAR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85516"/>
            <a:ext cx="10972800" cy="8915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985516"/>
            <a:ext cx="64008" cy="8915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23011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23011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076956"/>
            <a:ext cx="8092440" cy="7086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3854CC"/>
                </a:solidFill>
                <a:latin typeface="Montserrat"/>
              </a:rPr>
              <a:t>EXPLICAR — </a:t>
            </a:r>
            <a:r>
              <a:rPr sz="1150">
                <a:solidFill>
                  <a:srgbClr val="2B2C4A"/>
                </a:solidFill>
                <a:latin typeface="Montserrat"/>
              </a:rPr>
              <a:t>el sustrato biofísico de cada timbre percutorio y su topografía normal.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3275838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3275838"/>
            <a:ext cx="1691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CA2728"/>
                </a:solidFill>
                <a:latin typeface="Montserrat"/>
              </a:rPr>
              <a:t>COMPRENDER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005072"/>
            <a:ext cx="10972800" cy="8915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005072"/>
            <a:ext cx="64008" cy="8915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24967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24967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096512"/>
            <a:ext cx="8092440" cy="7086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3854CC"/>
                </a:solidFill>
                <a:latin typeface="Montserrat"/>
              </a:rPr>
              <a:t>EJECUTAR — </a:t>
            </a:r>
            <a:r>
              <a:rPr sz="1150">
                <a:solidFill>
                  <a:srgbClr val="2B2C4A"/>
                </a:solidFill>
                <a:latin typeface="Montserrat"/>
              </a:rPr>
              <a:t>las seis maniobras de palpación con la referencia anatómica de cada una.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4295394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4295394"/>
            <a:ext cx="1691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CA2728"/>
                </a:solidFill>
                <a:latin typeface="Montserrat"/>
              </a:rPr>
              <a:t>APLICAR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024628"/>
            <a:ext cx="10972800" cy="8915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5024628"/>
            <a:ext cx="64008" cy="8915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" y="526923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26923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116068"/>
            <a:ext cx="8092440" cy="7086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3854CC"/>
                </a:solidFill>
                <a:latin typeface="Montserrat"/>
              </a:rPr>
              <a:t>DISTINGUIR — </a:t>
            </a:r>
            <a:r>
              <a:rPr sz="1150">
                <a:solidFill>
                  <a:srgbClr val="2B2C4A"/>
                </a:solidFill>
                <a:latin typeface="Montserrat"/>
              </a:rPr>
              <a:t>ruidos adventicios continuos de discontinuos por su respuesta a la tos.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92640" y="5314950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5314950"/>
            <a:ext cx="1691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CA2728"/>
                </a:solidFill>
                <a:latin typeface="Montserrat"/>
              </a:rPr>
              <a:t>ANALIZAR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MARCO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La secuencia semiológica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82296" cy="132588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536192"/>
            <a:ext cx="1463040" cy="219456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ENUNCIADO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10512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50" b="1" i="0">
                <a:solidFill>
                  <a:srgbClr val="3854CC"/>
                </a:solidFill>
                <a:latin typeface="Montserrat"/>
              </a:rPr>
              <a:t>Cuatro tiempos sucesivos —inspección, palpación, percusión y auscultación— evalúan la caja torácica, la ventilación y las alteraciones acústicas y mecánicas del parénquima pulmonar.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80360"/>
            <a:ext cx="3523488" cy="31546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880360"/>
            <a:ext cx="3523488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44952"/>
            <a:ext cx="315772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Inspección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Posición, conformación parietal, deformidades y dinámica ventilatoria. Los signos extratorácicos —cianosis, tiraje, acropaquia— cierran el tiempo.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9016" y="2880360"/>
            <a:ext cx="3523488" cy="31546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9016" y="2880360"/>
            <a:ext cx="3523488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1896" y="3044952"/>
            <a:ext cx="315772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Palpación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Seis maniobras descendentes: pared, cadenas ganglionares, resistencia, expansión torácica y frémito táctil, siempre en comparación transversal.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3672" y="2880360"/>
            <a:ext cx="3523488" cy="31546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3672" y="2880360"/>
            <a:ext cx="3523488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6551" y="3044952"/>
            <a:ext cx="315772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Percusión y auscultación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Primero el mapa de timbres y límites; después ruidos respiratorios, soplos, adventicios, voz y tos, en secuencia simétrica y descendente.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BLOQUE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600" b="1" i="0">
                <a:solidFill>
                  <a:srgbClr val="FFFFFF"/>
                </a:solidFill>
                <a:latin typeface="Montserrat"/>
              </a:rPr>
              <a:t>Inspección torácica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86200"/>
            <a:ext cx="182880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La posición y la geometría de la pared se leen antes de tocar al paciente: lo que la inspección describe, la palpación y la percusión lo confirman.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INSPECCIÓN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Cuatro pasos frente al paciente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19"/>
            <a:ext cx="822960" cy="102184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19"/>
            <a:ext cx="822960" cy="10218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6696" y="2439161"/>
            <a:ext cx="18288" cy="14630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54480" y="1417319"/>
            <a:ext cx="10012680" cy="10218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1490471"/>
            <a:ext cx="9509760" cy="8755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Preparar la exposición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Bipedestación o banquillo; brazos péndulos a los lados para las caras anterior y posterior, manos tras la nuca para exponer las líneas axilares.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585465"/>
            <a:ext cx="822960" cy="1021842"/>
          </a:xfrm>
          <a:prstGeom prst="roundRect">
            <a:avLst>
              <a:gd name="adj" fmla="val 4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5465"/>
            <a:ext cx="822960" cy="10218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" y="3607308"/>
            <a:ext cx="18288" cy="14630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54480" y="2585465"/>
            <a:ext cx="10012680" cy="10218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2658618"/>
            <a:ext cx="9509760" cy="8755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Leer la conformación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Diámetro anteroposterior frente al transversal, protrusiones, depresiones y retracciones parietales; comparar siempre ambos hemitórax.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53611"/>
            <a:ext cx="822960" cy="102184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53611"/>
            <a:ext cx="822960" cy="10218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" y="4775454"/>
            <a:ext cx="18288" cy="14630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54480" y="3753611"/>
            <a:ext cx="10012680" cy="10218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3826763"/>
            <a:ext cx="9509760" cy="8755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Explorar la piel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Circulación colateral, arañas vasculares, estrías, fístulas, telangiectasias y cicatrices.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921758"/>
            <a:ext cx="822960" cy="102184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21758"/>
            <a:ext cx="822960" cy="10218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54480" y="4921758"/>
            <a:ext cx="10012680" cy="10218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83080" y="4994910"/>
            <a:ext cx="9509760" cy="8755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Cronometrar la dinámica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Frecuencia, amplitud, ritmo y contracciones anómalas; vigilar tiraje, cianosis, aleteo nasal y dedos hipocráticos.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INSPECCIÓN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Simetría: lo normal y lo que no lo 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5376672" cy="438912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FISIOLÓGICA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El lado dominante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El hemitórax de la extremidad dominante tiene mayor desarrollo muscular.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También es mayor su volumen global: la diferencia es de grado, no de forma.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No se acompaña de abovedamiento circunscrito ni de retracción parietal.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Conviene registrarla antes de comparar, para no leerla como patología.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417320"/>
            <a:ext cx="5376672" cy="43891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PATOLÓGICA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Alteraciones unilaterales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Abovedamiento circunscrito: derrame pleural o tumoración de la pared.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Retracción parietal: el parénquima subyacente ha perdido volumen.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El hallazgo es localizado, no un hemitórax entero más grande que el otro.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Se confirma palpando el relieve y midiendo la expansión de ese lado.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INSPECCIÓN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Cuatro deformidades parietales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8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9110"/>
                <a:gridCol w="4001844"/>
                <a:gridCol w="4001844"/>
              </a:tblGrid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DEFORMIDAD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TRAZO DIFERENCIAL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QUÉ SE VE EN EL PACIENTE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Tórax en tonel (enfisematoso)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Aumento del diámetro anteroposterior sobre el transversal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Silueta globulosa, con protrusión anterior y posterior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Tórax paralítico o asténico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Disminución neta del anteroposterior, con transversal relativamente mayor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Tórax plano y alargado, de perfil estrecho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Tórax en quilla (carinatum)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Prominencia esternal anterior aguda; sección circular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El esternón avanza en proa y el tórax pierde el aplanamiento lateral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Tórax excavado (pectus excavatum)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Depresión del segmento esternal distal hacia el raquis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Fosa retroesternal visible en el tercio inferior del esternón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CONCLUSIÓN EDITORIAL:  En las cuatro, la clave es comparar diámetros y simetría, no memorizar siluetas.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INSPECCIÓN · CORTES TRANSVERSALES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Tórax en tonel y tórax excavado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" y="1613740"/>
            <a:ext cx="11045952" cy="395055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3_1_3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50316"/>
            <a:ext cx="10972800" cy="38774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Línea continua: tórax normal. Izquierda, el anteroposterior se adelanta; derecha, el esternón se hunde.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Fuente / Crédito: Semiotecnia del tórax, cap. 3, figs. 3-1 y 3-3 (PDF adjunto)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INSPECCIÓN · COLUMNA DORSAL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Escoliosis dorsal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39148" y="1380744"/>
            <a:ext cx="6883223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3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724" y="1417320"/>
            <a:ext cx="6810071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La línea de apófisis espinosas se desvía: A sinistroconvexa, B dextroconvexa, ambas remarcadas a lápiz.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Fuente / Crédito: Semiotecnia del tórax, cap. 3, fig. 3-8 (PDF adjunto)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INSPECCIÓN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Cifosis: dos niveles, dos variantes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82296" cy="132588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536192"/>
            <a:ext cx="1463040" cy="219456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ENUNCIADO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10512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50" b="1" i="0">
                <a:solidFill>
                  <a:srgbClr val="3854CC"/>
                </a:solidFill>
                <a:latin typeface="Montserrat"/>
              </a:rPr>
              <a:t>La cifosis acentúa la curvatura dorsal fisiológica; el nivel donde lo hace distingue la variante senil de la juvenil.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80360"/>
            <a:ext cx="5385816" cy="31546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880360"/>
            <a:ext cx="5385816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44952"/>
            <a:ext cx="5020055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Cifosis senil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Acentúa la curvatura dorsal en su tercio medio: el dorso se redondea sin desviación lateral de las apófisis espinosas.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880360"/>
            <a:ext cx="5385816" cy="31546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2880360"/>
            <a:ext cx="5385816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044952"/>
            <a:ext cx="5020055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Cifosis juvenil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Exagera la curvatura en el segmento inferior de la columna dorsal, por debajo del tercio medio, sin lateralizar la línea de apófisis espinosas.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INSPECCIÓN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Dinámica y signos extratorácicos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82296" cy="132588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536192"/>
            <a:ext cx="1463040" cy="219456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ENUNCIADO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10512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50" b="1" i="0">
                <a:solidFill>
                  <a:srgbClr val="3854CC"/>
                </a:solidFill>
                <a:latin typeface="Montserrat"/>
              </a:rPr>
              <a:t>La inspección continua de frecuencia, amplitud, ritmo y contracciones anómalas revela la mecánica ventilatoria; la facies y las extremidades delatan su coste.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80360"/>
            <a:ext cx="3523488" cy="31546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880360"/>
            <a:ext cx="3523488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44952"/>
            <a:ext cx="315772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Músculos accesorios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Hipertrofia y engrosamiento rítmico inspiratorio del esternocleidomastoideo, con depresión de las fosas supraclaviculares en cada inspiración.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9016" y="2880360"/>
            <a:ext cx="3523488" cy="31546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9016" y="2880360"/>
            <a:ext cx="3523488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1896" y="3044952"/>
            <a:ext cx="315772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Facies y cuello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Cianosis labial o facial, aleteo nasal, ventilación con labios fruncidos, ingurgitación yugular, fístulas, estrías y telangiectasias.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3672" y="2880360"/>
            <a:ext cx="3523488" cy="31546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3672" y="2880360"/>
            <a:ext cx="3523488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6551" y="3044952"/>
            <a:ext cx="315772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Extremidades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Dedos hipocráticos: acropaquia con redondeo del extremo digital, incurvación de la uña y aumento del ángulo que forma con el lecho.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BLOQUE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600" b="1" i="0">
                <a:solidFill>
                  <a:srgbClr val="FFFFFF"/>
                </a:solidFill>
                <a:latin typeface="Montserrat"/>
              </a:rPr>
              <a:t>Palpación sistemática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86200"/>
            <a:ext cx="182880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Seis maniobras en orden descendente convierten la inspección en dato táctil: relieve, trofismo, tono, cadenas ganglionares, elasticidad y expansión.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PALPACIÓN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Seis maniobras, un orden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4683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854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90472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Mano de escultor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Deslizamiento palmar plano sobre las caras anterior, posterior y laterales: censa relieve cutáneo, deformaciones óseas y tumefacciones.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51836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581351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63063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424988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Pared: trofismo y tono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Pinzamiento bimanual de piel y tejido subcutáneo en zonas simétricas, y compresión con la punta del índice sobre las masas musculares.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86353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515868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97580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59505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Cadenas ganglionares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Supraclavicular desde atrás, con tres dedos y los hombros elevados; axilar en sus cinco grupos, uno por uno y con el brazo sostenido.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20870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45038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3209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94022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Resistencia torácica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Compresión convergente bimanual sobre puntos homotópicos anteriores y posteriores, a igual nivel: el cese elástico normal es simétrico.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155387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5384901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66613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228539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Expansión y frémito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Ruault en los vértices, luego bases anteriores y posteriores; al final, vibraciones vocales con «treinta y tres» hasta su desaparición.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PALPACIÓN · MANIOBRAS 1 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Escultor, trofismo y tono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" y="1701426"/>
            <a:ext cx="11045952" cy="377518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3_9_3_10_3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38002"/>
            <a:ext cx="10972800" cy="37020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Izquierda: deslizamiento palmar. Centro: pinzamiento del trofismo. Derecha: presión del índice sobre el tono.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Fuente / Crédito: Semiotecnia del tórax, cap. 3, figs. 3-9, 3-10 y 3-11 (PDF adjunto)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PALPACIÓN · MANIOBRA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Cadenas ganglionares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8728" y="1380744"/>
            <a:ext cx="7304063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3_12_3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304" y="1417320"/>
            <a:ext cx="7230911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Izquierda: cinco grupos axilares (A-E). Derecha: fosa supraclavicular con tres dedos y hombros elevados.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Fuente / Crédito: Semiotecnia del tórax, cap. 3, figs. 3-12 y 3-13 (PDF adjunto)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PALPACIÓN · MANIOBRA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Cuatro maniobras de expansión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VÉRTICES (RUAULT)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417320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417320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Manos en los trapecios, dedos en la fosa infraclavicular y pulgares en C7-T1; se mide la separación del ángulo interpulgar.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51836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51836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REGIÓN INFRACLAVICULAR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351836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351836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Manos planas bilaterales bajo las clavículas, en decúbito dorsal o de pie; se busca el desplazamiento de las manos.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86353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86353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BASES ANTERIORES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286353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286353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Dedos en la línea axilar media y pulgares convergentes bajo el apéndice xifoides: la expansión abre el ángulo que forman.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20870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20870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BASES POSTERIORES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4220870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4220870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Manos abrazando los bordes posterolaterales bajo la punta escapular y pulgares junto a la línea media vertebral.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155387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55387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REGLA DE LECTURA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5155387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5155387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La excursión basal supera a la apical; toda maniobra se repite con respiración normal y con inspiración profunda.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PALPACIÓN · MANIOBRAS 3 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Resistencia torácica y vértices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0179" y="1380744"/>
            <a:ext cx="7721161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3_18_3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755" y="1417320"/>
            <a:ext cx="7648009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Izquierda: compresión convergente homotópica y cese elástico. Derecha: Ruault, pulgares separados.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Fuente / Crédito: Semiotecnia del tórax, cap. 3, figs. 3-18 y 3-19 (PDF adjunto)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PALPACIÓN · MANIOBRA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Bases anteriores y posteriores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17803" y="1380744"/>
            <a:ext cx="6325912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3_21_3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379" y="1417320"/>
            <a:ext cx="6252760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Delante, pulgares bajo el xifoides; detrás, bajo la punta escapular. La amplitud se lee en el ángulo.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Fuente / Crédito: Semiotecnia del tórax, cap. 3, figs. 3-21 y 3-22 (PDF adjunto)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PALPACIÓN · MANIOBRAS 5 Y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Frémito y vibraciones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82296" cy="132588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536192"/>
            <a:ext cx="1463040" cy="219456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ENUNCIADO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10512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50" b="1" i="0">
                <a:solidFill>
                  <a:srgbClr val="3854CC"/>
                </a:solidFill>
                <a:latin typeface="Montserrat"/>
              </a:rPr>
              <a:t>El frémito se palpa con la cara palmar o el borde cubital de una sola mano, de arriba abajo y en comparación transversal, mientras el paciente pronuncia «treinta y tres».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80360"/>
            <a:ext cx="10972800" cy="77724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508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0088"/>
            <a:ext cx="10607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2B2C4A"/>
                </a:solidFill>
                <a:latin typeface="Montserrat"/>
              </a:rPr>
              <a:t>Las vibraciones vocales son fisiológicamente más notorias en el hemitórax derecho; la maniobra se repite hasta su desaparición, que delimita las bases pulmonares.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94760"/>
            <a:ext cx="5385816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794760"/>
            <a:ext cx="5385816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59352"/>
            <a:ext cx="5020055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Vibraciones pleurales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Roce táctil áspero por pleuras despulidas; se percibe en ambas fases respiratorias, con franco predominio inspiratorio y sin relación con la 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3794760"/>
            <a:ext cx="5385816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3794760"/>
            <a:ext cx="5385816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3959352"/>
            <a:ext cx="5020055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Regla de la comparación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Una sola mano, lado a lado y a la misma altura, de arriba abajo: la asimetría es el hallazgo, nunca el valor absoluto de un hemitórax aislado.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BLOQUE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600" b="1" i="0">
                <a:solidFill>
                  <a:srgbClr val="FFFFFF"/>
                </a:solidFill>
                <a:latin typeface="Montserrat"/>
              </a:rPr>
              <a:t>Percusión: mapeo y timbres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86200"/>
            <a:ext cx="182880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El dedo plexor golpea el dedo plesímetro paralelo a las costillas, o directamente el relieve óseo, para dibujar el mapa acústico del tórax.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PERCUSIÓN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Los timbres del 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703320"/>
                <a:gridCol w="5212079"/>
              </a:tblGrid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TIMBRE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SUSTRATO BIOFÍSICO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TOPOGRAFÍA Y HALLAZGO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Sonoridad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Resonancia por distensión del parénquima alveolar aireado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Campos de Krönig y dorso hasta las bases; se atenúa en atelectasias y consolidaciones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Hipersonoridad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Tono más grave e intensidad aumentada por exceso de aire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No existe en reposo; aparece en enfisema, crisis asmática y neumotórax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9372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Timpanismo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Sonido musical agudo en cavidad aérea tensa y cerrada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Espacio semilunar de Traube; neumotórax a tensión y cavernas de pared lisa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CONCLUSIÓN EDITORIAL:  El aire en exceso agrava el tono; el aire perdido lo apaga. El timbre traduce contenido.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PERCUSIÓN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Los grados de la amortiguación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703320"/>
                <a:gridCol w="5212079"/>
              </a:tblGrid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TIMBRE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SUSTRATO BIOFÍSICO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TOPOGRAFÍA Y HALLAZGO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Sonoridad atenuada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Pérdida parcial de la distensión alveolar, sin masa sólida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Disminuye sin llegar al golpe sordo; atelectasias y consolidaciones iniciales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Matidez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Golpe sordo y breve sobre masa sólida desprovista de gas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Desde el 5.º EIC derecho (hígado) y área precordial; consolidación masiva y derrame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9372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Submatidez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Transición acústica entre el aire alveolar y la solidez visceral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4.º a 5.º EIC derecho y área periprecordial; derrames laminares y condensaciones incompletas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CONCLUSIÓN EDITORIAL:  La submatidez es una franja, no un territorio: delata ocupación incompleta.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PERCUSIÓN · PROTOCOLO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De los vértices a las bases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07143" y="1380744"/>
            <a:ext cx="7347233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3_27_3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719" y="1417320"/>
            <a:ext cx="7274081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Izquierda: campos de Krönig. Derecha: marcas a y b de la matidez en apnea y en espiración máxima, 4 a 6 cm.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Fuente / Crédito: Semiotecnia del tórax, cap. 3, figs. 3-27 y 3-32 (PDF adjunto)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PERCUSIÓN · MAPEO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Protocolo de mapeo topográfico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49323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49323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CAMPOS DE KRÖNIG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449323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449323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Plesímetro sobre el trapecio, de la base del cuello al hombro; la sonoridad queda entre la matidez cervical y el tercio externo clavicular.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01468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01468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DORSO Y BASES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601468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601468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Percusión descendente interescapulovertebral y subescapular; la matidez basal excursiona de 4 a 6 cm entre apnea y espiración máxima.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53611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53611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TÓRAX ANTERIOR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753611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753611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Desde la línea hemiclavicular: sonoridad hasta el 4.º EIC derecho y matidez por debajo; a la izquierda, matidez cardíaca y timpanismo de Traube.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905756"/>
            <a:ext cx="3108960" cy="1005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05756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ESQUELETO ÓSEO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4905756"/>
            <a:ext cx="77724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4905756"/>
            <a:ext cx="7406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Esternón de la horquilla al xifoides y columna de C7 a T12: sonoros si no hay lesión ni ocupación de la medular.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BLOQUE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600" b="1" i="0">
                <a:solidFill>
                  <a:srgbClr val="FFFFFF"/>
                </a:solidFill>
                <a:latin typeface="Montserrat"/>
              </a:rPr>
              <a:t>Auscultación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86200"/>
            <a:ext cx="182880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Paciente sentado, tórax descubierto y respiración bucal ligeramente profunda; secuencia simétrica y descendente por cara anterior, posterior y regiones laterales.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AUSCULTACIÓN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Ruidos respiratorios normales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429000"/>
                <a:gridCol w="5212079"/>
              </a:tblGrid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RUIDO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ORIGEN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DÓNDE Y CRONOLOGÍA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Respiración brónquica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Flujo aéreo turbulento traqueobronquial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Hueco supraclavicular y dorsal superior (T1-T4); espiración más áspera y prolongada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Murmullo vesicular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Distensión alveolar periférica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Fosas infraclaviculares, axilas y bases interescapulares; inspiración:espiración de 5:1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9372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Respiración broncovesicular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Superposición acústica de ambos componentes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Articulaciones esternoclaviculares e interescapulovertebral superior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CONCLUSIÓN EDITORIAL:  Oír respiración brónquica donde corresponde murmullo vesicular ya es patología.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AUSCULTACIÓN · MAPA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Dónde suena cada ruido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1937" y="1380744"/>
            <a:ext cx="5877645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3_34_3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513" y="1417320"/>
            <a:ext cx="5804493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Cuadriculado: brónquica; punteado: broncovesicular; rayado: murmullo vesicular, anterior y posterior.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Fuente / Crédito: Semiotecnia del tórax, cap. 3, figs. 3-34 y 3-35 (PDF adjunto)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AUSCULTACIÓN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Soplos patológicos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39"/>
                <a:gridCol w="4114800"/>
                <a:gridCol w="4937760"/>
              </a:tblGrid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SOPLO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MECANISMO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CLAVE DE RECONOCIMIENTO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Tubario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Respiración brónquica en área alveolar por condensación con bronquio permeable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Se ausculta periférico, donde debería oírse murmullo vesicular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Pleurítico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Variante del brónquico sobre el límite superior de un derrame pleural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Predominio espiratorio y timbre suave en la vocal «e»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Cavernoso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Transmisión hueca de baja frecuencia amplificada por una caverna pulmonar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Sonoridad profunda, como soplar dentro de un tubo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Anfórico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Cavernoso con timbre metálico por resonancia en gran cavidad de pared tensa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Timbre metálico; puede adquirirlo la tos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CONCLUSIÓN EDITORIAL:  La condensación conserva el bronquio; el derrame lo aleja del estetoscopio.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AUSCULTACIÓN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Adventicios: continuos y discontinuos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5376672" cy="438912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CONTINUOS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Roncus y sibilancias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Roncus: grave y ronco, en ambos tiempos, por secreción viscosa en vía mayor.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Sibilancias: agudo y musical, por broncoespasmo y estenosis de vía pequeña.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La sibilancia predomina al final de la espiración; el roncus no respeta el tiempo.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Ambos cambian o ceden con la tos: la vía aérea se limpia, el parénquima 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417320"/>
            <a:ext cx="5376672" cy="43891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DISCONTINUOS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Crepitantes y burbujas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Crepitantes: breves, homogéneos y finos en el pico inspiratorio; la tos no los cambia.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Burbuja: gruesa, mediana o fina, en ambas fases, por aire que pasa en medio líquido.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Los húmedos se movilizan con la tos; los crepitantes, en cambio, son inmodificables.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Frotes: crujido bifásico de cuero seco, sin cambios con la tos y más intenso al presionar.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AUSCULTACIÓN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La voz y la tos como pruebas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977639"/>
                <a:gridCol w="4663440"/>
              </a:tblGrid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SIGNO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QUÉ SE OYE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DÓNDE APARECE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Broncofonía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Resonancia vocal aumentada, sin que se distingan las sílabas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Consolidación; la voz gana cuerpo sobre el foco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Pectoriloquia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Palabras nítidas y articuladas al hablar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Condensación con bronquio permeable; áfona si se susurran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Egofonía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Voz temblorosa, nasal y entrecortada, en «e»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Borde superior de una colección pleural líquida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Respuesta a la tos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Moviliza o borra ruidos húmedos y roncus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Estrena timbre cavernoso o anfórico tras toser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CONCLUSIÓN EDITORIAL:  La tos es la maniobra que separa lo que está en la vía de lo que está en el parénquima.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INTEGRACIÓN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Pregunta de examen oral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212080" cy="452628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</a:rPr>
              <a:t>EXAMEN ORAL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47672"/>
            <a:ext cx="1554480" cy="310896"/>
          </a:xfrm>
          <a:prstGeom prst="roundRect">
            <a:avLst>
              <a:gd name="adj" fmla="val 12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47672"/>
            <a:ext cx="1554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</a:rPr>
              <a:t>ALTA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46634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Hay matidez basal derecha. A la auscultación el murmullo está abolido y aparece un soplo con timbre en «e». ¿Derrame pleural o consolidación neumónica?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417320"/>
            <a:ext cx="557784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727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 i="0">
                <a:solidFill>
                  <a:srgbClr val="CA2728"/>
                </a:solidFill>
                <a:latin typeface="Montserrat"/>
              </a:rPr>
              <a:t>RESPUESTA MODELO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38528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El derrame desplaza el parénquima y crea un límite líquido: matidez, soplo pleurítico y egofonía sobre el borde superior. La consolidación conserva el bronquio permeable: soplo tubario, broncofonía y pectoriloquia sobre el foco.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411480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4114800"/>
            <a:ext cx="54864" cy="18288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1" i="0">
                <a:solidFill>
                  <a:srgbClr val="B91C1C"/>
                </a:solidFill>
                <a:latin typeface="Montserrat"/>
              </a:rPr>
              <a:t>NOTA DEL EXAMINADOR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590288"/>
            <a:ext cx="5120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Se espera que nombre el límite superior del derrame y que separe soplo pleurítico de tubario antes de pedir imagen.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Glosario mínimo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170432"/>
            <a:ext cx="192024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46920" y="1170432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GLOSARIO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SONORIDAD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85415"/>
            <a:ext cx="5376672" cy="598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Resonancia del parénquima alveolar aireado; timbre normal del tórax.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802636"/>
            <a:ext cx="5376672" cy="10972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30651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HIPERSONORIDAD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41547"/>
            <a:ext cx="5376672" cy="598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Tono más grave e intenso por exceso de aire: enfisema, asma, neumotórax.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858768"/>
            <a:ext cx="5376672" cy="10972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86783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TIMPANISMO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97679"/>
            <a:ext cx="5376672" cy="598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Sonido musical agudo de una cavidad aérea tensa y cerrada.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914900"/>
            <a:ext cx="5376672" cy="10972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042915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MATIDEZ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353811"/>
            <a:ext cx="5376672" cy="598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Golpe sordo y breve sobre masa sólida sin gas: hígado, derrame, consolidación.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1874519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SUBMATIDEZ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2185415"/>
            <a:ext cx="5376672" cy="598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Transición entre sonoridad y matidez; ocupación parcial del parénquima.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2802636"/>
            <a:ext cx="5376672" cy="10972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2930651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BRONCOFONÍA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3241547"/>
            <a:ext cx="5376672" cy="598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Resonancia vocal aumentada sin que se distingan las sílabas.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0488" y="3858768"/>
            <a:ext cx="5376672" cy="10972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3986783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PECTORILOQUIA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4297679"/>
            <a:ext cx="5376672" cy="598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Transmisión nítida y articulada de las palabras; áfona si son susurradas.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4914900"/>
            <a:ext cx="5376672" cy="10972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5042915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EGOFONÍA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0488" y="5353811"/>
            <a:ext cx="5376672" cy="598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Voz temblorosa y nasal en el borde superior de una colección pleural líquida.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FUENTE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Origen del texto y de las figuras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SEMIOLOGÍA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1170432"/>
            <a:ext cx="164592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21240" y="1170432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REFERENCIAS ·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Semiotecnia del tórax: aparato respiratorio. Capítulo 3, pp. 9-21 (PDF adjunto).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1576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15768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Inspección y pared: figs. 3-1, 3-3 y 3-8, recortadas de las pp. 11-13 del capítulo.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57015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57015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Cadenas ganglionares: figs. 3-12 y 3-13, pp. 14-15; mano de escultor: fig. 3-9, p. 14.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9826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398264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Resistencia y expansión: figs. 3-18 y 3-19, p. 16; bases: figs. 3-21 y 3-22, p. 17.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874519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874519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Percusión: figs. 3-27 y 3-32, pp. 19-20; auscultación: figs. 3-34 y 3-35, p. 21.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71576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715768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Las láminas se extrajeron del escaneo 1-bit del PDF sin remuestreo: tools/extract_figures.py.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557015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557015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En los cortes transversales, línea continua = tórax normal; discontinua = deformidad.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39826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8.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398264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El texto de cada diapositiva condensa el capítulo; las cifras (4-6 cm, 5:1, T1-T4) son las del original.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