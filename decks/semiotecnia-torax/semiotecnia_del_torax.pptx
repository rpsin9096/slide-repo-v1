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Semiotecnia del tórax y aparato respiratorio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Cuatro tiempos para leer la caja torácica, la ventilación y el parénquima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UCP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APERTURA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Objetivos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70432"/>
            <a:ext cx="265176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70432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OBJETIVOS DE APRENDIZAJE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965960"/>
            <a:ext cx="10972800" cy="8915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965960"/>
            <a:ext cx="64008" cy="8915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21056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1056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057400"/>
            <a:ext cx="8092440" cy="7086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3854CC"/>
                </a:solidFill>
                <a:latin typeface="Montserrat"/>
              </a:rPr>
              <a:t>NOMBRAR — </a:t>
            </a:r>
            <a:r>
              <a:rPr sz="1150">
                <a:solidFill>
                  <a:srgbClr val="2B2C4A"/>
                </a:solidFill>
                <a:latin typeface="Montserrat"/>
              </a:rPr>
              <a:t>los cuatro tiempos del examen respiratorio y el orden en que se suceden.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2256282"/>
            <a:ext cx="16916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2256282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CA2728"/>
                </a:solidFill>
                <a:latin typeface="Montserrat"/>
              </a:rPr>
              <a:t>RECORDAR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985516"/>
            <a:ext cx="10972800" cy="8915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2985516"/>
            <a:ext cx="64008" cy="8915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323011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23011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76956"/>
            <a:ext cx="8092440" cy="7086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3854CC"/>
                </a:solidFill>
                <a:latin typeface="Montserrat"/>
              </a:rPr>
              <a:t>EXPLICAR — </a:t>
            </a:r>
            <a:r>
              <a:rPr sz="1150">
                <a:solidFill>
                  <a:srgbClr val="2B2C4A"/>
                </a:solidFill>
                <a:latin typeface="Montserrat"/>
              </a:rPr>
              <a:t>el sustrato biofísico de cada timbre percutorio y su topografía normal.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3275838"/>
            <a:ext cx="16916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3275838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CA2728"/>
                </a:solidFill>
                <a:latin typeface="Montserrat"/>
              </a:rPr>
              <a:t>COMPRENDER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005072"/>
            <a:ext cx="10972800" cy="8915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4005072"/>
            <a:ext cx="64008" cy="8915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24967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4967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096512"/>
            <a:ext cx="8092440" cy="7086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3854CC"/>
                </a:solidFill>
                <a:latin typeface="Montserrat"/>
              </a:rPr>
              <a:t>EJECUTAR — </a:t>
            </a:r>
            <a:r>
              <a:rPr sz="1150">
                <a:solidFill>
                  <a:srgbClr val="2B2C4A"/>
                </a:solidFill>
                <a:latin typeface="Montserrat"/>
              </a:rPr>
              <a:t>las seis maniobras de palpación con la referencia anatómica de cada una.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4295394"/>
            <a:ext cx="16916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4295394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CA2728"/>
                </a:solidFill>
                <a:latin typeface="Montserrat"/>
              </a:rPr>
              <a:t>APLICAR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024628"/>
            <a:ext cx="10972800" cy="8915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4360" y="5024628"/>
            <a:ext cx="64008" cy="8915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526923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26923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116068"/>
            <a:ext cx="8092440" cy="7086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3854CC"/>
                </a:solidFill>
                <a:latin typeface="Montserrat"/>
              </a:rPr>
              <a:t>DISTINGUIR — </a:t>
            </a:r>
            <a:r>
              <a:rPr sz="1150">
                <a:solidFill>
                  <a:srgbClr val="2B2C4A"/>
                </a:solidFill>
                <a:latin typeface="Montserrat"/>
              </a:rPr>
              <a:t>ruidos adventicios continuos de discontinuos por su respuesta a la tos.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92640" y="5314950"/>
            <a:ext cx="16916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92640" y="5314950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CA2728"/>
                </a:solidFill>
                <a:latin typeface="Montserrat"/>
              </a:rPr>
              <a:t>ANALIZAR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MARCO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secuencia semiológica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Cuatro tiempos sucesivos —inspección, palpación, percusión y auscultación— evalúan la caja torácica, la ventilación y las alteraciones acústicas y mecánicas del parénquima pulmonar.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3523488" cy="31546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8803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44952"/>
            <a:ext cx="315772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Inspección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Posición, conformación parietal, deformidades y dinámica ventilatoria; los signos extratorácicos cierran el tiempo.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9016" y="2880360"/>
            <a:ext cx="3523488" cy="31546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9016" y="28803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1896" y="3044952"/>
            <a:ext cx="315772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Palpación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Seis maniobras descendentes: pared, cadenas ganglionares, resistencia, expansión y frémito táctil.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3672" y="2880360"/>
            <a:ext cx="3523488" cy="31546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3672" y="28803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6551" y="3044952"/>
            <a:ext cx="315772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Percusión y auscultación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Mapa de timbres y límites primero; después ruidos, soplos, adventicios, voz y 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BLOQUE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Inspección torácica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La posición y la geometría de la pared se leen antes de tocar al paciente: lo que la inspección describe, la palpación y la percusión lo confirman.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Cuatro pasos frente al paciente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19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19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" y="2439161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54480" y="1417319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1490471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Preparar la exposición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Bipedestación o banquillo; brazos péndulos a los lados para las caras anterior y posterior, manos tras la nuca para exponer las líneas axilares.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85465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5465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3607308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54480" y="2585465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658618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Leer la conformación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Diámetro anteroposterior frente al transversal, protrusiones, depresiones y retracciones parietales; comparar siempre ambos hemitórax.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753611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53611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" y="4775454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753611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826763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Explorar la piel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Circulación colateral, arañas vasculares, estrías, fístulas, telangiectasias y cicatrices.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921758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21758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4921758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4994910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Cronometrar la dinámica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Frecuencia, amplitud, ritmo y contracciones anómalas; vigilar tiraje, cianosis, aleteo nasal y dedos hipocráticos.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Simetría: lo normal y lo que no lo 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FISIOLÓGICA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El lado dominante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El hemitórax de la extremidad dominante tiene mayor desarrollo muscular.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También es mayor su volumen global: la diferencia es de grado, no de forma.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No se acompaña de abovedamiento circunscrito ni de retracción parietal.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Conviene registrarla antes de comparar, para no leerla como patología.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PATOLÓGICA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Alteraciones unilaterales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Abovedamiento circunscrito: derrame pleural o tumoración de la pared.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Retracción parietal: el parénquima subyacente ha perdido volumen.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El hallazgo es localizado, no un hemitórax entero más grande que el otro.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Se confirma palpando el relieve y midiendo la expansión de ese lado.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Cuatro deformidades parietales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9110"/>
                <a:gridCol w="4001844"/>
                <a:gridCol w="4001844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DEFORMIDAD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TRAZO DIFERENCIAL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QUÉ SE VE EN EL PACIENTE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Tórax en tonel (enfisematoso)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Aumento del diámetro anteroposterior sobre el transversal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Silueta globulosa, con protrusión anterior y posterior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Tórax paralítico o asténico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Disminución neta del anteroposterior, con transversal relativamente mayor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Tórax plano y alargado, de perfil estrecho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Tórax en quilla (carinatum)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Prominencia esternal anterior aguda; sección circular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El esternón avanza en proa y el tórax pierde el aplanamiento lateral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Tórax excavado (pectus excavatum)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Depresión del segmento esternal distal hacia el raquis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Fosa retroesternal visible en el tercio inferior del esternón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En las cuatro, la clave es comparar diámetros y simetría, no memorizar siluetas.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 · CORTES TRANSVERSALES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Tórax en tonel y tórax excavado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" y="1613740"/>
            <a:ext cx="11045952" cy="39505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1_3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50316"/>
            <a:ext cx="10972800" cy="38774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Línea continua: tórax normal. Izquierda, el anteroposterior se adelanta; derecha, el esternón se hunde.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3-1 y 3-3 (PDF adjunto)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 · COLUMNA DORSAL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Escoliosis dorsal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39148" y="1380744"/>
            <a:ext cx="6883223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5724" y="1417320"/>
            <a:ext cx="6810071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La línea de apófisis espinosas se desvía: A sinistroconvexa, B dextroconvexa, ambas remarcadas a lápiz.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fig. 3-8 (PDF adjunto)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Cifosis: dos niveles, dos variantes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La cifosis acentúa la curvatura dorsal fisiológica; el nivel donde lo hace distingue la variante senil de la juvenil.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5385816" cy="31546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880360"/>
            <a:ext cx="538581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44952"/>
            <a:ext cx="5020055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Cifosis senil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Acentúa la curvatura dorsal en su tercio medio; el dorso se redondea sin desviación lateral de las apófisis espinosas.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2880360"/>
            <a:ext cx="5385816" cy="31546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2880360"/>
            <a:ext cx="538581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3044952"/>
            <a:ext cx="5020055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Cifosis juvenil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Exagera la curvatura en el segmento inferior de la columna dorsal, por debajo del tercio medio.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Dinámica y signos extratorácicos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La inspección continua de frecuencia, amplitud, ritmo y contracciones anómalas revela la mecánica ventilatoria; la facies y las extremidades delatan su coste.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3523488" cy="31546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8803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44952"/>
            <a:ext cx="315772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Músculos accesorios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Hipertrofia y engrosamiento rítmico inspiratorio del esternocleidomastoideo, con depresión de las fosas supraclaviculares.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9016" y="2880360"/>
            <a:ext cx="3523488" cy="31546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9016" y="28803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1896" y="3044952"/>
            <a:ext cx="315772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Facies y cuello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Cianosis labial o facial, aleteo nasal, ventilación con labios fruncidos, ingurgitación yugular, fístulas, estrías y telangiectasias.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3672" y="2880360"/>
            <a:ext cx="3523488" cy="31546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3672" y="288036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6551" y="3044952"/>
            <a:ext cx="315772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Extremidades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Dedos hipocráticos: acropaquia con redondeo del extremo digital e incurvación de la uña.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BLOQUE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Palpación sistemática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Seis maniobras en orden descendente convierten la inspección en dato táctil: relieve, trofismo, tono, cadenas ganglionares, elasticidad y expansión.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Seis maniobras, un 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4683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2854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9047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Mano de escultor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Deslizamiento palmar plano sobre caras anterior, posterior y laterales; censa relieve cutáneo, deformaciones óseas y tumefacciones.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58135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306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24988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Pared: trofismo y tono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Pinzamiento bimanual de piel y tejido subcutáneo; compresión con la punta del índice sobre las masas musculares.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9505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Cadenas ganglionares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Supraclavicular desde atrás, con tres dedos y hombros elevados; axilar en sus cinco grupos, uno por uno.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5038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209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402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Resistencia torácica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Compresión convergente bimanual sobre puntos homotópicos, a igual nivel por delante y por detrás.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38490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6661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228539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Expansión y frémito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Ruault en los vértices, bases anteriores y posteriores; después vibraciones vocales con «treinta y tres».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pared que la mano registra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Sobre la pared, la palpación busca cuatro cosas: trofismo, tono, puntos dolorosos y crepitación gaseosa.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El trofismo se explora pinzando piel y tejido subcutáneo entre pulgar e índice: la atrofia localizada traduce un reflejo visceral.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Tono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Compresión con la punta del índice: resistencia, contractura o espasmo.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Crepitación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Enfisema subcutáneo: gas en el tejido, palpable como roce.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0104" y="1823781"/>
            <a:ext cx="3913632" cy="375907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ig_3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860357"/>
            <a:ext cx="3840480" cy="368592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fig. 3-9 (PDF adjunto)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Cadenas ganglionares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8728" y="1380744"/>
            <a:ext cx="7304063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12_3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04" y="1417320"/>
            <a:ext cx="7230911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Izquierda: cinco grupos axilares (A-E). Derecha: fosa supraclavicular con tres dedos y hombros elevados.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3-12 y 3-13 (PDF adjunto)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Cuatro maniobras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VÉRTICES (RUAULT)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Manos en los trapecios, dedos en la fosa infraclavicular y pulgares en C7-T1; se mide la separación del ángulo interpulgar.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REGIÓN INFRACLAVICULAR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Manos planas bilaterales bajo las clavículas, en decúbito dorsal o de pie; se busca el desplazamiento de las manos.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BASES ANTERIORES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Dedos en la línea axilar media y pulgares convergentes bajo el apéndice xifoides: la expansión abre el ángulo que forman.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BASES POSTERIORES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Manos abrazando los bordes posterolaterales bajo la punta escapular y pulgares junto a la línea media vertebral.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REGLA DE LECTURA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excursión basal supera a la apical; toda maniobra se repite con respiración normal y con inspiración profunda.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MANIOBRAS 3 Y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Resistencia torácica y vértices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0179" y="1380744"/>
            <a:ext cx="7721161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18_3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755" y="1417320"/>
            <a:ext cx="7648009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Izquierda: compresión convergente homotópica y cese elástico. Derecha: Ruault, pulgares separados.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3-18 y 3-19 (PDF adjunto)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Bases anteriores y posteriores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17803" y="1380744"/>
            <a:ext cx="632591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21_3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379" y="1417320"/>
            <a:ext cx="625276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Delante, pulgares bajo el xifoides; detrás, bajo la punta escapular. La amplitud se lee en el ángulo.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3-21 y 3-22 (PDF adjunto)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MANIOBRAS 5 Y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Frémito y vibraciones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El frémito se palpa con la cara palmar o el borde cubital de una sola mano, de arriba abajo y en comparación transversal, mientras el paciente pronuncia «treinta y tres».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1097280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106070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Las vibraciones vocales son fisiológicamente más notorias en el hemitórax derecho; la maniobra se repite hasta su desaparición, que delimita las bases pulmonares.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538581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538581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5020055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Vibraciones pleurales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Roce táctil áspero por pleuras despulidas; se percibe en ambas fases respiratorias, con franco predominio inspiratorio.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3794760"/>
            <a:ext cx="538581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3794760"/>
            <a:ext cx="538581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3959352"/>
            <a:ext cx="5020055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Regla de la comparación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Una sola mano, lado a lado y a la misma altura: la asimetría es el hallazgo, no el valor absoluto.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BLOQUE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Percusión: mapeo y timbres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El dedo plexor golpea el dedo plesímetro paralelo a las costillas, o directamente el relieve óseo, para dibujar el mapa acústico del tórax.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PERCUSIÓN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Los timbres del 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703320"/>
                <a:gridCol w="521207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TIMBRE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SUSTRATO BIOFÍSICO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TOPOGRAFÍA Y 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Sonoridad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Resonancia por distensión del parénquima alveolar aireado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Campos de Krönig y dorso hasta las bases; se atenúa en atelectasias y consolidaciones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Hipersonoridad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Tono más grave e intensidad aumentada por exceso de aire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No existe en reposo; aparece en enfisema, crisis asmática y neumotórax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Timpanismo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Sonido musical agudo en cavidad aérea tensa y cerrada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Espacio semilunar de Traube; neumotórax a tensión y cavernas de pared lisa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aire en exceso agrava el tono; el aire perdido lo apaga. El timbre traduce contenido.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PERCUSIÓN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Los grados de la amortiguación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703320"/>
                <a:gridCol w="521207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TIMBRE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SUSTRATO BIOFÍSICO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TOPOGRAFÍA Y 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Sonoridad atenuada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Pérdida parcial de la distensión alveolar, sin masa sólida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Disminuye sin llegar al golpe sordo; atelectasias y consolidaciones iniciales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Matidez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Golpe sordo y breve sobre masa sólida desprovista de gas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Desde el 5.º EIC derecho (hígado) y área precordial; consolidación masiva y derrame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Submatidez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Transición acústica entre el aire alveolar y la solidez visceral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4.º a 5.º EIC derecho y área periprecordial; derrames laminares y condensaciones incompletas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submatidez es una franja, no un territorio: delata ocupación incompleta.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PERCUSIÓN · PROTOCOLO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 los vértices a las 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07143" y="1380744"/>
            <a:ext cx="7347233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27_3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19" y="1417320"/>
            <a:ext cx="7274081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Izquierda: campos de Krönig. Derecha: marcas a y b de la matidez en apnea y en espiración máxima, 4 a 6 cm.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3-27 y 3-32 (PDF adjunto)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PERCUSIÓN · MAPEO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de mapeo topográfico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49323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9323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CAMPOS DE KRÖNIG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49323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49323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Plesímetro sobre el trapecio, de la base del cuello al hombro; la sonoridad queda entre la matidez cervical y el tercio externo clavicular.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1468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1468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DORSO Y BASES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601468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601468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Percusión descendente interescapulovertebral y subescapular; la matidez basal excursiona de 4 a 6 cm entre apnea y espiración máxima.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53611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TÓRAX ANTERIOR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753611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753611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Desde la línea hemiclavicular: sonoridad hasta el 4.º EIC derecho y matidez por debajo; a la izquierda, matidez cardíaca y timpanismo de Traube.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05756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05756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ESQUELETO ÓSEO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905756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905756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Esternón de la horquilla al xifoides y columna de C7 a T12: sonoros si no hay lesión ni ocupación de la medular.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BLOQUE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Auscultación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Paciente sentado, tórax descubierto y respiración bucal ligeramente profunda; secuencia simétrica y descendente por cara anterior, posterior y regiones laterales.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Ruidos respiratorios normales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429000"/>
                <a:gridCol w="521207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RUIDO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ORIGEN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DÓNDE Y CRONOLOGÍA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Respiración brónquica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Flujo aéreo turbulento traqueobronquial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Hueco supraclavicular y dorsal superior (T1-T4); espiración más áspera y prolongada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Murmullo vesicular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Distensión alveolar periférica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Fosas infraclaviculares, axilas y bases interescapulares; inspiración:espiración de 5:1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Respiración broncovesicular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Superposición acústica de ambos componentes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Articulaciones esternoclaviculares e interescapulovertebral superior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Oír respiración brónquica donde corresponde murmullo vesicular ya es patología.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 · MAPA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Dónde suena cada ruido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1937" y="1380744"/>
            <a:ext cx="5877645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34_3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513" y="1417320"/>
            <a:ext cx="5804493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Cuadriculado: brónquica; punteado: broncovesicular; rayado: murmullo vesicular, anterior y posterior.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3-34 y 3-35 (PDF adjunto)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Soplos patológicos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4114800"/>
                <a:gridCol w="4937760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SOPLO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MECANISMO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CLAVE DE RECONOCIMIENTO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Tubario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Respiración brónquica en área alveolar por condensación con bronquio permeable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Se ausculta periférico, donde debería oírse murmullo vesicular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Pleurítico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Variante del brónquico sobre el límite superior de un derrame pleural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Predominio espiratorio y timbre suave en la vocal «e»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Cavernoso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Transmisión hueca de baja frecuencia amplificada por una caverna pulmonar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Sonoridad profunda, como soplar dentro de un tubo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Anfórico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Cavernoso con timbre metálico por resonancia en gran cavidad de pared tensa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Timbre metálico; puede adquirirlo la tos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condensación conserva el bronquio; el derrame lo aleja del estetoscopio.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Adventicios: continuos y discontinuos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CONTINUOS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Roncus y sibilancias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Roncus: grave y ronco, en ambos tiempos, por secreción viscosa en vía mayor.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Sibilancias: agudo y musical, por broncoespasmo y estenosis de vía pequeña.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sibilancia predomina al final de la espiración; el roncus no respeta el tiempo.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Ambos cambian o ceden con la tos: la vía aérea se limpia, el parénquima 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DISCONTINUOS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Crepitantes y burbujas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Crepitantes: breves, homogéneos y finos en el pico inspiratorio; la tos no los cambia.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Burbuja: gruesa, mediana o fina, en ambas fases, por aire que pasa en medio líquido.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Los húmedos se movilizan con la tos; los crepitantes, en cambio, son inmodificables.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Frotes: crujido bifásico de cuero seco, sin cambios con la tos y más intenso al presionar.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voz y la tos como pruebas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977639"/>
                <a:gridCol w="4663440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SIGNO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QUÉ SE OYE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DÓNDE APARECE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Broncofonía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Resonancia vocal aumentada, sin que se distingan las sílabas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Consolidación; la voz gana cuerpo sobre el foco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Pectoriloquia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Palabras nítidas y articuladas al hablar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Condensación con bronquio permeable; áfona si se susurran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Egofonía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Voz temblorosa, nasal y entrecortada, en «e»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Borde superior de una colección pleural líquida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Respuesta a la tos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Moviliza o borra ruidos húmedos y roncus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Estrena timbre cavernoso o anfórico tras toser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tos es la maniobra que separa lo que está en la vía de lo que está en el parénquima.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INTEGRACIÓN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Pregunta de examen oral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212080" cy="45262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Montserrat"/>
              </a:rPr>
              <a:t>EXAMEN ORAL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47672"/>
            <a:ext cx="155448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47672"/>
            <a:ext cx="1554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23160"/>
            <a:ext cx="46634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0" i="0">
                <a:solidFill>
                  <a:srgbClr val="FFFFFF"/>
                </a:solidFill>
                <a:latin typeface="Montserrat"/>
              </a:rPr>
              <a:t>Hay matidez basal derecha. A la auscultación el murmullo está abolido y aparece un soplo con timbre en «e». ¿Derrame pleural o consolidación neumónica?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417320"/>
            <a:ext cx="5577840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RESPUESTA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938528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El derrame desplaza el parénquima y crea un límite líquido: matidez, soplo pleurítico y egofonía sobre el borde superior. La consolidación conserva el bronquio permeable: soplo tubario, broncofonía y pectoriloquia sobre el foco.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4114800"/>
            <a:ext cx="5577840" cy="182880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4114800"/>
            <a:ext cx="54864" cy="1828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42519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B91C1C"/>
                </a:solidFill>
                <a:latin typeface="Montserrat"/>
              </a:rPr>
              <a:t>NOTA DEL EXAMINADOR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590288"/>
            <a:ext cx="51206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Se espera que nombre el límite superior del derrame y que separe soplo pleurítico de tubario antes de pedir imagen.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Glosario mínimo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1170432"/>
            <a:ext cx="19202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1170432"/>
            <a:ext cx="1920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GLOSARIO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SONORIDAD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85415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Resonancia del parénquima alveolar aireado; timbre normal del tórax.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802636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930651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HIPERSONORIDAD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41547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Tono más grave e intenso por exceso de aire: enfisema, asma, neumotórax.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858768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986783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TIMPANISMO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297679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Sonido musical agudo de una cavidad aérea tensa y cerrada.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914900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042915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MATIDEZ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353811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Golpe sordo y breve sobre masa sólida sin gas: hígado, derrame, consolidación.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1874519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SUBMATIDEZ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185415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Transición entre sonoridad y matidez; ocupación parcial del parénquima.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0488" y="2802636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0488" y="2930651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BRONCOFONÍA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3241547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Resonancia vocal aumentada sin que se distingan las sílabas.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0488" y="3858768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0488" y="3986783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PECTORILOQUIA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4297679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Transmisión nítida y articulada de las palabras; áfona si son susurradas.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0488" y="4914900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0488" y="5042915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EGOFONÍA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0488" y="5353811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Voz temblorosa y nasal en el borde superior de una colección pleural líquida.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Origen del texto y de las figuras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Semiotecnia del tórax: aparato respiratorio. Capítulo 3, pp. 9-21 (PDF adjunto).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Inspección y pared: figs. 3-1, 3-3 y 3-8, recortadas de las pp. 11-13 del capítulo.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Cadenas ganglionares: figs. 3-12 y 3-13, pp. 14-15; mano de escultor: fig. 3-9, p. 14.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Resistencia y expansión: figs. 3-18 y 3-19, p. 16; bases: figs. 3-21 y 3-22, p. 17.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Percusión: figs. 3-27 y 3-32, pp. 19-20; auscultación: figs. 3-34 y 3-35, p. 21.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Las láminas se extrajeron del escaneo 1-bit del PDF sin remuestreo: tools/extract_figures.py.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En los cortes transversales, línea continua = tórax normal; discontinua = deformidad.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8.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El texto de cada diapositiva condensa el capítulo; las cifras (4-6 cm, 5:1, T1-T4) son las del original.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