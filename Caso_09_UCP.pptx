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640080"/>
            <a:ext cx="10728655" cy="557784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234440"/>
            <a:ext cx="9997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SEMINARIO · CASO CLÍNICO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20240"/>
            <a:ext cx="999713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3800" b="1" i="0">
                <a:solidFill>
                  <a:srgbClr val="FFFFFF"/>
                </a:solidFill>
                <a:latin typeface="Montserrat"/>
              </a:rPr>
              <a:t>Caso Clínico 09: pancreatitis aguda</a:t>
            </a:r>
          </a:p>
        </p:txBody>
      </p:sp>
      <p:sp>
        <p:nvSpPr>
          <p:cNvPr id="8" name="Rectangle 7"/>
          <p:cNvSpPr/>
          <p:nvPr/>
        </p:nvSpPr>
        <p:spPr>
          <a:xfrm>
            <a:off x="5358384" y="4069080"/>
            <a:ext cx="146304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343400"/>
            <a:ext cx="94484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500" b="0" i="1">
                <a:solidFill>
                  <a:srgbClr val="E0E4FF"/>
                </a:solidFill>
                <a:latin typeface="Montserrat"/>
              </a:rPr>
              <a:t>Centro Tecnológico I · 5.º Semestre · Sección 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349240"/>
            <a:ext cx="94484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000" b="1" i="0">
                <a:solidFill>
                  <a:srgbClr val="E0E4FF"/>
                </a:solidFill>
                <a:latin typeface="Montserrat"/>
              </a:rPr>
              <a:t>UNIVERSIDAD CENTRAL DEL PARAGUAY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715000"/>
            <a:ext cx="94484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0" i="1">
                <a:solidFill>
                  <a:srgbClr val="FFFFFF"/>
                </a:solidFill>
                <a:latin typeface="Montserrat"/>
              </a:rPr>
              <a:t>Docente: [Nombre] · Cátedra: [Nombre] · Unidad: [Nombre]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EQUIPO Y DATOS ACADÉMICOS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Integrantes y distribución de la exposición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17320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DOCENTE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94760" y="1417320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77639" y="1417320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[Nombre completo]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351836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51836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CÁTEDRA Y UNIDAD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2351836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77639" y="2351836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[Cátedra] · [Unidad]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286353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286353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INTEGRANTES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94760" y="3286353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7639" y="3286353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[Nombre 1] · [Nombre 2] · [Nombre 3] · [Nombre 4]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220870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220870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RELATORÍA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94760" y="4220870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77639" y="4220870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R1: apertura, caso y diagnóstico (1–4); R2: mecanismo y clínica (5–6); R3: patología e imagen (7–11); R4: tratamiento, APS y fuentes (12–14).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5155387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155387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SUSTENTACIÓN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94760" y="5155387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77639" y="5155387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Todos responden el banco común; confirmar nombres, vocería y cronómetro.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Tiempo sugerido: hasta 2:30 min por relator; ajustar el reparto al equipo real.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HISTORIA CLÍNICA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Historia clínica: mujer de 38 años con dolor abdominal agudo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657600"/>
            <a:ext cx="10378440" cy="32004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869948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33372" y="3534156"/>
            <a:ext cx="237744" cy="237744"/>
          </a:xfrm>
          <a:prstGeom prst="ellipse">
            <a:avLst/>
          </a:prstGeom>
          <a:noFill/>
          <a:ln w="1905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43100" y="3429000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51560" y="1554480"/>
            <a:ext cx="1801368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1560" y="1554480"/>
            <a:ext cx="1801368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19" y="1691640"/>
            <a:ext cx="1527048" cy="1600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Antecedente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Enfermedad vesicular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2B2C4A"/>
                </a:solidFill>
                <a:latin typeface="Montserrat"/>
              </a:rPr>
              <a:t>Mujer de 38 años; enfermedad vesicular de larga evolución.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45636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18788" y="3758184"/>
            <a:ext cx="18288" cy="128015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127248" y="3886200"/>
            <a:ext cx="1801368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127248" y="3886200"/>
            <a:ext cx="1801368" cy="4572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64408" y="4023360"/>
            <a:ext cx="1527048" cy="1600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Inicio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Dolor abdominal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2B2C4A"/>
                </a:solidFill>
                <a:latin typeface="Montserrat"/>
              </a:rPr>
              <a:t>Súbito, intenso y en abdomen medio.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21324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94476" y="3429000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02936" y="1554480"/>
            <a:ext cx="1801368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202936" y="1554480"/>
            <a:ext cx="1801368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40096" y="1691640"/>
            <a:ext cx="1527048" cy="1600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Examen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Hipersensibilidad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2B2C4A"/>
                </a:solidFill>
                <a:latin typeface="Montserrat"/>
              </a:rPr>
              <a:t>Marcada en abdomen superior; ruidos intestinales reducidos.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7012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70164" y="3758184"/>
            <a:ext cx="18288" cy="128015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278624" y="3886200"/>
            <a:ext cx="1801368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78624" y="3886200"/>
            <a:ext cx="1801368" cy="4572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15783" y="4023360"/>
            <a:ext cx="1527048" cy="1600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Rx / TC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Edema marcado de tejidos blandos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2B2C4A"/>
                </a:solidFill>
                <a:latin typeface="Montserrat"/>
              </a:rPr>
              <a:t>Rx sin aire libre; TC: menor atenuación, densidad líquida pancreática.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72700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245852" y="3429000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354312" y="1554480"/>
            <a:ext cx="1801368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54312" y="1554480"/>
            <a:ext cx="1801368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91472" y="1691640"/>
            <a:ext cx="1527048" cy="1600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Manejo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Lipasa elevada; recuperación gradual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2B2C4A"/>
                </a:solidFill>
                <a:latin typeface="Montserrat"/>
              </a:rPr>
              <a:t>Recibió líquidos IV y sonda nasogástrica.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Lipasa sin valor/LSN; informe completo de TC no disponible. No inferir otros datos.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DIAGNÓSTICO PROBABLE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El cuadro es compatible; la causa biliar no está confirmada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212080" cy="452628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0020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Montserrat"/>
              </a:rPr>
              <a:t>EXAMEN ORAL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947672"/>
            <a:ext cx="1554480" cy="310896"/>
          </a:xfrm>
          <a:prstGeom prst="roundRect">
            <a:avLst>
              <a:gd name="adj" fmla="val 12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47672"/>
            <a:ext cx="15544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INTERMEDIA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423160"/>
            <a:ext cx="46634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0" i="0">
                <a:solidFill>
                  <a:srgbClr val="FFFFFF"/>
                </a:solidFill>
                <a:latin typeface="Montserrat"/>
              </a:rPr>
              <a:t>¿Qué datos permiten plantear el diagnóstico y cuáles siguen pendientes?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1417320"/>
            <a:ext cx="5577840" cy="2514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57276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 i="0">
                <a:solidFill>
                  <a:srgbClr val="CA2728"/>
                </a:solidFill>
                <a:latin typeface="Montserrat"/>
              </a:rPr>
              <a:t>RESPUESTA MODELO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938528"/>
            <a:ext cx="51206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Atlanta exige 2 de 3 criterios: dolor compatible, enzimas ≥3 veces el límite superior normal o imagen característica. Aquí constan dolor y alteración pancreática descrita en TC; falta informe. Lipasa elevada, sin valor. Origen biliar posible, no confirmado.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4114800"/>
            <a:ext cx="5577840" cy="182880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89320" y="4114800"/>
            <a:ext cx="54864" cy="18288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42519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 i="0">
                <a:solidFill>
                  <a:srgbClr val="B91C1C"/>
                </a:solidFill>
                <a:latin typeface="Montserrat"/>
              </a:rPr>
              <a:t>NOTA DEL EXAMINADOR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590288"/>
            <a:ext cx="51206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Verificar si la TC cumple criterio de imagen característica. No asignar gravedad sin datos de fallo orgánico persistente ni duración.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Atlanta revisada [1]; el valor de lipasa y el informe radiológico completo no están disponibles.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MECANISMO ETIOLÓGICO PROPUESTO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Una posible obstrucción biliar puede iniciar la lesión pancreática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5895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ANTECEDENTE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Enfermedad vesicular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La historia prolongada del caso hace plausible, pero no confirma, origen biliar.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43249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1757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8216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216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OBSTRUCCIÓN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45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Montserrat"/>
              </a:rPr>
              <a:t>Impactación distal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E0E4FF"/>
                </a:solidFill>
                <a:latin typeface="Montserrat"/>
              </a:rPr>
              <a:t>Un cálculo ampular puede elevar presión ductal e impedir el drenaje.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6459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4078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537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537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ACINO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366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Activación enzimática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Ca²⁺ sostenido y colocalización lisosoma-zimógeno favorecen activación de tripsinógeno.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89670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6399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2858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2858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INFLAMACIÓN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46869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Daño local y sistémico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Tripsina, lipasa y elastasa lesionan tejido; histamina y citocinas amplifican la respuesta.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5029200"/>
            <a:ext cx="10972800" cy="1005839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635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La hipótesis de Opie propone obstrucción ampular y posible reflujo biliar en ciertas anatomías; el reflujo no es un requisito universal. En este caso no se aporta ecografía que documente un cálculo.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089904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TNF-α e IL-1/IL-6 son citocinas; la elastasa puede dañar vasos y la lipasa favorece necrosis grasa.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MANIFESTACIONES Y EXAMEN FÍSICO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Los hallazgos orientan; los signos clásicos no descartan el cuadro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06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6095390" y="1874519"/>
            <a:ext cx="0" cy="594360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7313042" y="3138189"/>
            <a:ext cx="2173968" cy="362239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103909" y="4415170"/>
            <a:ext cx="1087617" cy="767680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3999254" y="4415170"/>
            <a:ext cx="1087616" cy="767680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2703770" y="3138189"/>
            <a:ext cx="2173968" cy="362239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952390" y="324612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3830" y="3246120"/>
            <a:ext cx="21031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ontserrat"/>
              </a:rPr>
              <a:t>Manifestaciones clínicas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52390" y="13944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89550" y="146761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Dolor visceral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2B2C4A"/>
                </a:solidFill>
                <a:latin typeface="Montserrat"/>
              </a:rPr>
              <a:t>Plexo celíaco/esplácnicos; posible referencia dorsal (T5–T9).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44010" y="2658129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81170" y="2731281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Hallazgos del caso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2B2C4A"/>
                </a:solidFill>
                <a:latin typeface="Montserrat"/>
              </a:rPr>
              <a:t>Hipersensibilidad superior y ruidos intestinales reducidos.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8526" y="470279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85686" y="477594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Celso / Galeno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2B2C4A"/>
                </a:solidFill>
                <a:latin typeface="Montserrat"/>
              </a:rPr>
              <a:t>Rubor, calor, tumor y dolor; Galeno añade pérdida de función.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56254" y="470279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93414" y="477594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Signo de Cullen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2B2C4A"/>
                </a:solidFill>
                <a:latin typeface="Montserrat"/>
              </a:rPr>
              <a:t>Equimosis periumbilical tardía e infrecuente; no informada.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60770" y="2658129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97930" y="2731281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Signo de Grey Turner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2B2C4A"/>
                </a:solidFill>
                <a:latin typeface="Montserrat"/>
              </a:rPr>
              <a:t>Equimosis de flancos, tardía e infrecuente; no informada.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Cullen y Grey Turner tienen baja sensibilidad; su ausencia no descarta pancreatitis [9].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CORRELACIÓN MACROSCÓPICA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Saponificación y necrosis grasa en la pieza pancreática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4343400"/>
          </a:xfrm>
          <a:prstGeom prst="roundRect">
            <a:avLst>
              <a:gd name="adj" fmla="val 2000"/>
            </a:avLst>
          </a:prstGeom>
          <a:solidFill>
            <a:srgbClr val="EEF0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442715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50" b="0" i="0">
                <a:solidFill>
                  <a:srgbClr val="606383"/>
                </a:solidFill>
                <a:latin typeface="Montserrat"/>
              </a:rPr>
              <a:t>MARCADOR · Fotografía macroscópica oficial del Caso 09 | páncreas y focos cerosos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La lipasa libera ácidos grasos que se unen al calcio (Ca²⁺) y forman jabones insolubles blancos.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Insertar la foto original; rotular solo páncreas, grasa y focos visibles. No usar imagen generada.  •  Crédito: Fotografía macro oficial del Caso 09; archivo visual no accesible.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CORRELACIÓN MICROSCÓPICA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Diagnóstico anatomopatológico: pendiente de revisar la imagen oficial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4343400"/>
          </a:xfrm>
          <a:prstGeom prst="roundRect">
            <a:avLst>
              <a:gd name="adj" fmla="val 2000"/>
            </a:avLst>
          </a:prstGeom>
          <a:solidFill>
            <a:srgbClr val="EEF0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442715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50" b="0" i="0">
                <a:solidFill>
                  <a:srgbClr val="606383"/>
                </a:solidFill>
                <a:latin typeface="Montserrat"/>
              </a:rPr>
              <a:t>MARCADOR · Microfotografía H&amp;E oficial del Caso 09 | necrosis grasa/saponificación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H&amp;E (hematoxilina-eosina): buscar adipocitos necróticos y depósitos basófilos solo si son visibles.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No afirmar un diagnóstico histológico final sin revisar la microfotografía original.  •  Crédito: Microfotografía oficial H&amp;E del Caso 09; archivo visual no accesible.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PATRONES MORFOLÓGICOS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La pancreatitis edematosa y la necrotizante tienen patrones distintos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5376672" cy="438912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INTERSTICIAL EDEMATOSA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Parénquima con realce conservado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Edema intersticial con arquitectura pancreática conservada.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No hay necrosis parenquimatosa en este patrón.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La gravedad clínica requiere evaluar fallo orgánico y complicaciones.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1417320"/>
            <a:ext cx="5376672" cy="43891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NECROTIZANTE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Daño parenquimatoso o peripancreático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En TC contrastada oportuna puede verse tejido sin realce.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La elastasa puede degradar la pared vascular y favorecer hemorragia.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Puede coexistir necrosis grasa con saponificación.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Atlanta separa morfología (intersticial/necrotizante) de gravedad clínica (fallo orgánico/complicaciones).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SELECCIÓN DE ESTUDIOS DE IMAGEN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Elegir el estudio de imagen según la pregunta clínica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19"/>
            <a:ext cx="822960" cy="102184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417319"/>
            <a:ext cx="822960" cy="10218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ontserrat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6696" y="2439161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554480" y="1417319"/>
            <a:ext cx="10012680" cy="102184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83080" y="1490471"/>
            <a:ext cx="9509760" cy="8755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Radiografía simple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Ante sospecha de aire libre; en el caso no se observó, aunque se describió edema de tejidos blandos.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585465"/>
            <a:ext cx="822960" cy="102184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5465"/>
            <a:ext cx="822960" cy="10218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6696" y="3607308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554480" y="2585465"/>
            <a:ext cx="10012680" cy="102184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83080" y="2658618"/>
            <a:ext cx="9509760" cy="8755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Ecografía biliar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Buscar cálculos y dilatación de la vía biliar; no consta resultado en la transcripción.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3753611"/>
            <a:ext cx="822960" cy="1021842"/>
          </a:xfrm>
          <a:prstGeom prst="roundRect">
            <a:avLst>
              <a:gd name="adj" fmla="val 4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53611"/>
            <a:ext cx="822960" cy="10218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ontserrat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" y="4775454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554480" y="3753611"/>
            <a:ext cx="10012680" cy="102184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83080" y="3826763"/>
            <a:ext cx="9509760" cy="8755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TC con contraste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Valorar parénquima y complicaciones ante incertidumbre o deterioro; no es rutinaria al ingreso. Falta el informe del caso.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921758"/>
            <a:ext cx="822960" cy="102184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921758"/>
            <a:ext cx="822960" cy="10218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ontserrat"/>
              </a:rPr>
              <a:t>04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4921758"/>
            <a:ext cx="10012680" cy="102184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83080" y="4994910"/>
            <a:ext cx="9509760" cy="8755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CTSI de Balthazar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CTSI: grado A–E (0–4) + necrosis (0 % = 0; &lt;30 % = 2; 30–50 % = 4; &gt;50 % = 6) = 0–10; complementa Atlanta.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No TC de rutina si asintomático. Necrosis más visible 48–72 h; &gt;4 sem: pseudoquiste sin detritos; necrosis encapsulada con detritos [1,2].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ECOGRAFÍA DE LA VESÍCULA BILIAR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Cálculo, barro y pólipo se diferencian por movilidad y sombra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799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84407"/>
                <a:gridCol w="4761781"/>
                <a:gridCol w="3726611"/>
              </a:tblGrid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HALLAZGO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ECOGENICIDAD Y MOVILIDAD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SOMBRA POSTERIOR / CLAVE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Bilis normal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Anecoica; vesícula distendida.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Luz sin ecos internos.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Cálculo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Hiperecogénico; suele moverse con el decúbito.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Sombra acústica posterior.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Barro biliar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Ecos bajos dependientes; se desplaza o estratifica.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Habitualmente sin sombra limpia.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Pólipo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Lesión mural fija; no cambia de posición.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Habitualmente sin sombra posterior.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Ayuno 6–8 h; documentar planos longitudinal/sagital y transversal/axial, posición y sombra acústica.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16752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La historia menciona enfermedad vesicular; no se aporta ecografía que confirme cálculos.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TRATAMIENTO DURANTE EL EPISODIO AGUDO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Individualizar hidratación, analgesia, alimentación y antimicrobianos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64683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628546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490472"/>
            <a:ext cx="10195560" cy="6419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Líquidos intravenosos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Caso 09: líquidos IV; solución y volumen no consignados. Preferir cristaloide balanceado y reevaluar perfusión y sobrecarga.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351836"/>
            <a:ext cx="109728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2581351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563063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424988"/>
            <a:ext cx="10195560" cy="6419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Cloruro y acidosis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El exceso de cloruro (Cl⁻) puede causar acidosis hiperclorémica; el efecto del pH bajo sobre zimógenos es experimental.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286353"/>
            <a:ext cx="109728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3515868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497580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359505"/>
            <a:ext cx="10195560" cy="6419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Analgesia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Morfina no está prohibida por una supuesta contraindicación absoluta; titular y vigilar sedación, función renal e íleo.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220870"/>
            <a:ext cx="109728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445038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432096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294022"/>
            <a:ext cx="10195560" cy="6419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Antibióticos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No indicar profilaxis para pancreatitis o necrosis estéril; tratar infección documentada o clínicamente sospechada.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5155387"/>
            <a:ext cx="109728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7240" y="5384901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366613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5228539"/>
            <a:ext cx="10195560" cy="6419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Sonda y nutrición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Caso 09: sonda nasogástrica. No es rutinaria si tolera vía oral; iniciar alimentación temprana según tolerancia.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CPRE = colangiopancreatografía retrógrada endoscópica; reservar para colangitis u obstrucción biliar persistente.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PREVENCIÓN SECUNDARIA Y 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PONCHO: colecistectomía en el ingreso para pancreatitis biliar leve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71600"/>
            <a:ext cx="10972800" cy="86868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481328"/>
            <a:ext cx="8229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Montserrat"/>
              </a:rPr>
              <a:t>Ensayo PONCHO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1499616"/>
            <a:ext cx="1371600" cy="347472"/>
          </a:xfrm>
          <a:prstGeom prst="roundRect">
            <a:avLst>
              <a:gd name="adj" fmla="val 12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21240" y="1499616"/>
            <a:ext cx="1371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2015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883664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E0E4FF"/>
                </a:solidFill>
                <a:latin typeface="Montserrat"/>
              </a:rPr>
              <a:t>ENSAYO MULTICÉNTRICO ALEATORIZADO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42316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42316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ontserrat"/>
              </a:rPr>
              <a:t>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23160"/>
            <a:ext cx="5943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Pacientes aptos con pancreatitis biliar leve.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310128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31012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ontserrat"/>
              </a:rPr>
              <a:t>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310128"/>
            <a:ext cx="5943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Colecistectomía durante la hospitalización inicial.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197096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197096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ontserrat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197096"/>
            <a:ext cx="5943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Colecistectomía diferida tras el alta.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5084064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08406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ontserrat"/>
              </a:rPr>
              <a:t>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5084064"/>
            <a:ext cx="5943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Reingreso por complicaciones biliares o muerte a seis meses.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52360" y="2423160"/>
            <a:ext cx="4114800" cy="1554480"/>
          </a:xfrm>
          <a:prstGeom prst="roundRect">
            <a:avLst>
              <a:gd name="adj" fmla="val 4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2578608"/>
            <a:ext cx="3840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3600" b="1" i="0">
                <a:solidFill>
                  <a:srgbClr val="FFFFFF"/>
                </a:solidFill>
                <a:latin typeface="Montserrat"/>
              </a:rPr>
              <a:t>17 % / 5 %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35240" y="3456432"/>
            <a:ext cx="3749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050" b="0" i="0">
                <a:solidFill>
                  <a:srgbClr val="FFFFFF"/>
                </a:solidFill>
                <a:latin typeface="Montserrat"/>
              </a:rPr>
              <a:t>Cirugía diferida vs durante el mismo ingreso; desenlace compuesto.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52360" y="4160520"/>
            <a:ext cx="4114800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52360" y="4160520"/>
            <a:ext cx="54864" cy="169164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0" y="4297680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B91C1C"/>
                </a:solidFill>
                <a:latin typeface="Montserrat"/>
              </a:rPr>
              <a:t>LIMITACIÓN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4572000"/>
            <a:ext cx="3657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No extrapolar a etiología no confirmada ni a necrosis/colecciones; en esos casos, individualizar la cirugía.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603504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APS: confirmar etiología y derivar. Cirugía en ingreso si cuadro leve; diferir ante necrosis/colecciones. Control clínico a 4–6 semanas.  •  Crédito: da Costa DW, et al. Lancet. 2015;386:1261–1268. doi:10.1016/S0140-6736(15)00274-3.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FUENTES COMPLEMENTARIAS SELECCIONADAS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Fuentes para diagnóstico, mecanismos y manejo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1170432"/>
            <a:ext cx="1645920" cy="310896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21240" y="1170432"/>
            <a:ext cx="1645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REFERENCIAS ·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874519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874519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Banks PA, et al. Gut. 2013;62:102–111. doi:10.1136/gutjnl-2012-302779.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15768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715768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Tenner S, et al. Am J Gastroenterol. 2024;119:419–437. doi:10.14309/ajg.0000000000002645.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557015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557015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Saluja A, et al. Gastroenterology. 2019;156:1979–1993. doi:10.1053/j.gastro.2019.01.268.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398264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398264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da Costa DW, et al. Lancet. 2015;386:1261–1268. doi:10.1016/S0140-6736(15)00274-3.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5239512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239512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Moore KL, Dalley AF, Agur AMR. Clinically Oriented Anatomy. 9th ed. Wolters Kluwer; 2023.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1874519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6.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1874519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Balthazar EJ, et al. Radiology. 1990;174:331–336. doi:10.1148/radiology.174.2.2296641.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715768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7.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2715768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Kumar V, Abbas AK, Aster JC. Robbins &amp; Cotran. 10th ed. Elsevier; 2020.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3557015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8.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3557015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Murphy MC, et al. Insights Imaging. 2020;11:13. doi:10.1186/s13244-019-0825-4.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398264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9.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4398264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Wright WF. J Am Osteopath Assoc. 2016;116:398–401. doi:10.7556/jaoa.2016.081.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5239512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10.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5239512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Thompson DR. Am J Gastroenterol. 2001;96:1266–1272. doi:10.1111/j.1572-0241.2001.03536.x.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Bibliografía añadida para respaldar contenidos generales; sustituir o reducir según las fuentes verificadas del PDF original.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