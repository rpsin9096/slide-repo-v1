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10728655" cy="557784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SEMINARIO INTEGRADOR ·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99971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800" b="1" i="0">
                <a:solidFill>
                  <a:srgbClr val="FFFFFF"/>
                </a:solidFill>
                <a:latin typeface="Montserrat"/>
              </a:rPr>
              <a:t>Caso clínico 09: enfoque integral de la pancreatitis aguda</a:t>
            </a:r>
          </a:p>
        </p:txBody>
      </p:sp>
      <p:sp>
        <p:nvSpPr>
          <p:cNvPr id="8" name="Rectangle 7"/>
          <p:cNvSpPr/>
          <p:nvPr/>
        </p:nvSpPr>
        <p:spPr>
          <a:xfrm>
            <a:off x="5358384" y="4069080"/>
            <a:ext cx="146304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343400"/>
            <a:ext cx="9448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5.º Semestre · Sección 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349240"/>
            <a:ext cx="9448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 i="0">
                <a:solidFill>
                  <a:srgbClr val="E0E4FF"/>
                </a:solidFill>
                <a:latin typeface="Montserrat"/>
              </a:rPr>
              <a:t>UNIVERSIDAD CENTRAL DEL PARAGUAY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ORGANIZACIÓN DE LA EXPOSICIÓN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Organización del equipo y orden de exposición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RELATOR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1417320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1417320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Apertura, historia y juicio diagnóstico · diapositivas 1–4 · [Nombre y apellido]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351836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51836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RELATOR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2351836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2351836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Etiopatogenia y respuesta celular · diapositivas 5–8 · [Nombre y apellido]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86353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286353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RELATOR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94760" y="3286353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3286353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Morfología e imagen · diapositivas 9–13 · [Nombre y apellido]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220870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220870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RELATOR 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94760" y="4220870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4220870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Soporte, prevención, seguimiento y fuentes · diapositivas 14–18 · [Nombre y apellido]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155387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155387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SUSTENTACIÓN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94760" y="5155387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77639" y="5155387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Equipo completo: banco común de respuestas; confirmar vocería y cronómetro.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Completar nombres y validar el reparto con el cronograma docente.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HISTORIA CLÍNICA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Historia clínica: cronología del dolor y antecedentes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196596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8347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VIÑETA CLÍNICA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10512"/>
            <a:ext cx="49834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Montserrat"/>
              </a:rPr>
              <a:t>Datos individualizados pendientes: la ficha clínica, la planificación y el PPTX original no venían en el archivo recibido.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520440"/>
            <a:ext cx="534924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57600"/>
            <a:ext cx="498347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HALLAZGOS CLÍNICOS &amp; PRUEBAS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Inicio, sitio, carácter, intensidad y duración del dolor.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Irradiación dorsal, postura, ingesta, náuseas y vómitos.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Antecedentes biliares, fármacos, alcohol y comorbilidad.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Signos vitales, examen abdominal, laboratorio e imagen.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417320"/>
            <a:ext cx="539496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5448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JUICIO DIAGNÓSTICO &amp; RAZONAMIENTO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Completar edad, sexo, motivo, cronología y antecedentes; registrar hallazgos verificables antes de interpretarlos.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520440"/>
            <a:ext cx="5394960" cy="105156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61188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B91C1C"/>
                </a:solidFill>
                <a:latin typeface="Montserrat"/>
              </a:rPr>
              <a:t>DIAGNÓSTICO DEFINITIVO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Transcripción pendiente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709160"/>
            <a:ext cx="5394960" cy="1234440"/>
          </a:xfrm>
          <a:prstGeom prst="roundRect">
            <a:avLst>
              <a:gd name="adj" fmla="val 4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800600"/>
            <a:ext cx="49377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PERLA CLÍNICA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FFFFFF"/>
                </a:solidFill>
                <a:latin typeface="Montserrat"/>
              </a:rPr>
              <a:t>Dato no consignado no equivale a signo ausente. Anotar valores, unidades, hora y fuente de cada hallazgo.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Sustituir los campos pendientes con el Caso 09 antes de la defensa.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DIAGNÓSTICO Y GRAVEDAD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Diagnóstico de pancreatitis y clasificación de gravedad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49323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49323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ATLANTA · DIAGNÓSTICO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1449323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1449323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≥2 de 3: dolor típico; lipasa o amilasa ≥3 veces el límite superior normal (LSN); o imagen característica.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01468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01468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GRAVEDAD CLÍNICA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2601468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2601468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Leve: sin fallo orgánico ni complicaciones. Moderada: fallo transitorio ≤48 h o complicación; grave: fallo persistente &gt;48 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753611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53611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DIFERENCIALES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94760" y="3753611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3753611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Colecistitis/colangitis; perforación péptica; isquemia mesentérica; obstrucción; infarto inferior.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905756"/>
            <a:ext cx="3108960" cy="1005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905756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VERIFICACIÓN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94760" y="4905756"/>
            <a:ext cx="777240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4905756"/>
            <a:ext cx="74066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Etiología biliar requiere evidencia. Solicitar ecografía inicial; no usar TC precoz para graduar gravedad.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Documentar en la ficha cuáles criterios están presentes y cuáles aún faltan.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MECANISMO BILIAR PROPUESTO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Etiología biliar: mecanismo de obstrucción propuesto por Opie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Migración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La litiasis vesicular alcanza el colédoco distal.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Impactación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La obstrucción ampular transitoria dificulta el drenaje pancreático.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Estasis o reflujo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La presión ductal y el posible reflujo biliar contribuyen al estrés acinar; la anatomía varía.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Lesión pancreática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La lesión activa enzimas e inflamación local; confirmar la etiología con los datos del caso.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029200"/>
            <a:ext cx="10972800" cy="1005839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635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La migración e impactación transitoria de un cálculo puede obstruir la ampolla y elevar la presión ductal. El reflujo biliar se propone en la anatomía de canal común; no es un mecanismo demostrado en todos los casos.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089904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Opie describe una hipótesis histórica; correlacionar con ecografía, perfil hepático y evolución.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LESIÓN DEL ACINO PANCREÁTICO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Lesión celular: cambios reversibles e irreversibles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5376672" cy="438912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LESIÓN REVERSIBLE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Edema hidrópico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Falla Na⁺/K⁺-ATPasa → retención de Na⁺ y agua.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La célula se hincha; la membrana conserva integridad.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Restablecer energía y perfusión puede devolver homeostasis.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417320"/>
            <a:ext cx="5376672" cy="43891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LESIÓN IRREVERSIBLE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Sobrecarga de Ca²⁺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Ca²⁺ citosólico sostenido abre el poro mitocondrial de transición.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Cae el ATP; aumentan disfunción de membranas y estrés celular.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La ruptura de membranas favorece necrosis y libera señales de daño.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La progresión integra lesión mitocondrial, activación enzimática y respuesta inflamatoria.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ACTIVACIÓN ENZIMÁTICA E INFLAMACIÓN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Activación de enzimas e inflamación pancreática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Estímulo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Ca²⁺ sostenido, estrés del retículo y tráfico acinar alterado.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Colocalización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Lisosoma y gránulo de zimógeno coinciden; catepsina B contacta tripsinógeno.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Proteasas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La tripsina activa otras proenzimas; elastasa y lipasa amplían la lesión.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Mediadores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Histamina actúa rápido; TNF-α e interleucinas 1 y 6 (IL-1/IL-6) amplifican la inflamación.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029200"/>
            <a:ext cx="10972800" cy="1005839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635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La catepsina B puede activar tripsinógeno dentro de compartimentos colocalizados. La señal inflamatoria avanza en paralelo: citocinas, histamina y eicosanoides reclutan células y aumentan permeabilidad; la tripsina no explica por sí sola la respuesta sistémica.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089904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Histamina: vasoactiva · citocinas: respuesta sistémica · prostaglandinas/leucotrienos: eicosanoides.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MANIFESTACIONES CLÍNICAS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Manifestaciones clínicas: dolor referido, íleo y equimosis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DOLOR VISCERAL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1417320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1417320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Aferencias por plexo celíaco/esplácnicos con entrada torácica T5–T9; la convergencia puede referir dolor al dorso.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351836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51836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SIGNOS DE CELSO Y GALENO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2351836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2351836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Tétrada de Celso: rubor, calor, tumor, dolor. Galeno añade functio laesa (pérdida de función).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86353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286353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ÍLEO PARALÍTICO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94760" y="3286353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3286353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Inflamación retroperitoneal → reflejo inhibidor; simpático reduce motilidad y parasimpático la facilita. Mecanismo multifactorial.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220870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220870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CULLEN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94760" y="4220870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4220870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Equimosis periumbilical, infrecuente y tardía; su ausencia no excluye pancreatitis hemorrágica.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155387"/>
            <a:ext cx="3108960" cy="788212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155387"/>
            <a:ext cx="274320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ontserrat"/>
              </a:rPr>
              <a:t>GREY TURNER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94760" y="5155387"/>
            <a:ext cx="77724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77639" y="5155387"/>
            <a:ext cx="7406640" cy="7882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Equimosis de flancos, infrecuente y tardía; su ausencia no excluye sangrado retroperitoneal.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Estos signos no integran Atlanta ni estiman por sí solos la gravedad; consignar el momento del examen.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PATOLOGÍA MACROSCÓPICA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Esteatonecrosis pancreática en la pieza macroscópica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Pieza MACRO oficial | páncreas con esteatonecrosis en gotas de cera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La lipasa libera ácidos grasos que se unen al calcio (Ca²⁺) y forman jabones insolubles blancos.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Reemplazar el marcador por la fotografía macroscópica original; no usar ilustración generada.  •  Crédito: PPTX original Caso Clínico 09; imagen oficial ausente en el material recibido.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MICROSCOPÍA EN H&amp;E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Esteatonecrosis pancreática en la microfotografía H&amp;E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Microfotografía H&amp;E oficial | saponificación pancreática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H&amp;E (hematoxilina-eosina): adipocitos necróticos y depósitos basófilos de calcio.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Reemplazar por la microfotografía H&amp;E original; conservar aumento, tinción y crédito docente.  •  Crédito: PPTX original Caso Clínico 09; imagen oficial ausente en el material recibido.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PATRONES MORFOLÓGICOS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Pancreatitis intersticial y necrotizante: diferencias morfológicas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5376672" cy="438912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INTERSTICIAL EDEMATOSA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Realce conservado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Edema intersticial y aumento de tamaño glandular.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Inflamación aguda con parénquima viable y realce conservado.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La morfología no sustituye la evaluación clínica del fallo orgánico.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417320"/>
            <a:ext cx="5376672" cy="43891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NECROHEMORRÁGICA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Daño parenquimatoso y vascular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Puede haber necrosis acinar, hemorragia y saponificación peripancreática.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Elastasa degrada pared vascular y puede favorecer hemorragia.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La TC contrastada muestra áreas sin realce si se realiza a tiempo.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La morfología (intersticial o necrotizante) y la gravedad clínica se informan por separado.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ESTUDIOS DE IMAGEN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Estudios de imagen: qué aporta cada modalidad y cuándo usarla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AIRE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Radiografía simple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Considerar ante neumoperitoneo o íleo; no confirma pancreatitis.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LITIASIS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Ecografía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Busca cálculos, barro, dilatación biliar y colecciones accesibles.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PARÉNQUIMA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TC contrastada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Evalúa perfusión, necrosis y complicaciones; la TC precoz puede subestimarlas.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BALTAZAR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Índice CTSI de Balthazar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Grado A–E (0–4) + necrosis (0/2/4/6) = 0–10; no sustituye Atlanta.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029200"/>
            <a:ext cx="10972800" cy="1005839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635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La TC con contraste no se indica de rutina al ingreso. Reservarla para incertidumbre, deterioro o falta de mejoría; para valorar necrosis, esperar al menos 48–72 h y, a menudo, 72–96 h desde el inicio, según evolución.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089904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CTSI (índice de gravedad por TC): grado A–E (0–4) + necrosis (0; &lt;30%=2; 30–50%=4; &gt;50%=6) = 0–10.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ECOGRAFÍA BILIAR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Ecografía biliar: cálculo, barro y pólipo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9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4407"/>
                <a:gridCol w="4761781"/>
                <a:gridCol w="3726611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HALLAZGO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ECOGENICIDAD Y MOVILIDAD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SOMBRA POSTERIOR / CLAVE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Bilis normal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Anecoica; vesícula distendida.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Contenido sin ecos internos.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Cálculo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Hiperecogénico; suele moverse con el decúbito.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Sombra acústica posterior: favorece litiasis.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Barro biliar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Ecos de bajo nivel, dependientes; se desplaza o estratifica.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Habitualmente sin sombra; diferenciar de pólipo.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Pólipo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Lesión mural fija; no cambia de posición.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Sin sombra posterior; correlacionar con pared y Doppler.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Ayuno de 6–8 h; registrar cortes longitudinal (sagital) y transversal (axial), posición y sombra acústica.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1675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La nomenclatura de planos varía entre protocolos; documentar orientación y decúbito.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TRATAMIENTO INICIAL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Manejo inicial: hidratación, analgesia, antibióticos y nutrición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64683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2854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490472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Ringer lactato frente a salina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Preferir cristaloide isotónico balanceado; reanimación moderada, guiada por perfusión, diuresis y sobrecarga.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351836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581351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563063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424988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Acidosis y activación enzimática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El exceso de cloruro (Cl⁻) puede causar acidosis hiperclorémica; el efecto del pH sobre zimógenos es experimental, no causalidad clínica probada.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86353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515868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97580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359505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Analgesia titulada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Morfina no está contraindicada por espasmo de Oddi; vigilar sedación, función renal e íleo.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220870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445038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3209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294022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Antimicrobianos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No indicar profilaxis en pancreatitis ni necrosis estéril; tratar infección documentada o clínicamente sospechada.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155387"/>
            <a:ext cx="10972800" cy="788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5384901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366613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228539"/>
            <a:ext cx="10195560" cy="6419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Nutrición y CPRE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Alimentación oral temprana si se tolera. CPRE (colangiopancreatografía retrógrada endoscópica) ante colangitis u obstrucción biliar persistente.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ACG 2024: hidratación moderada, analgesia y nutrición temprana; antibióticos solo ante infección.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PREVENCIÓN SECUNDARIA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Prevención de recurrencia: colecistectomía en pancreatitis biliar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4023360" cy="452628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4023360" cy="54864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5200" b="1" i="0">
                <a:solidFill>
                  <a:srgbClr val="FFFFFF"/>
                </a:solidFill>
                <a:latin typeface="Montserrat"/>
              </a:rPr>
              <a:t>17% / 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7400" y="3657600"/>
            <a:ext cx="1097280" cy="2286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3566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50" b="0" i="0">
                <a:solidFill>
                  <a:srgbClr val="FFFFFF"/>
                </a:solidFill>
                <a:latin typeface="Montserrat"/>
              </a:rPr>
              <a:t>Desenlace compuesto: reingreso por complicación biliar o muerte; cirugía diferida vs mismo ingreso (6 meses).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2040" y="1417320"/>
            <a:ext cx="6675120" cy="1386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92040" y="1417320"/>
            <a:ext cx="54864" cy="13868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1527048"/>
            <a:ext cx="6263640" cy="1167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Atención primaria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Investigar cólico biliar recurrente, litiasis o barro; solicitar ecografía ante sospecha y coordinar derivación.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92040" y="2987040"/>
            <a:ext cx="6675120" cy="1386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92040" y="2987040"/>
            <a:ext cx="54864" cy="13868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3096768"/>
            <a:ext cx="6263640" cy="1167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Pancreatitis leve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Si es de origen biliar y el paciente es apto, colecistectomía laparoscópica en el mismo ingreso, antes del alta.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2040" y="4556760"/>
            <a:ext cx="6675120" cy="1386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92040" y="4556760"/>
            <a:ext cx="54864" cy="13868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0" y="4666488"/>
            <a:ext cx="6263640" cy="1167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Evitar la cifra no validada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No afirmar «30 % en 3 meses» sin fuente. PONCHO: reingreso por complicación biliar o muerte, 17 % diferida vs 5 % en el mismo ingreso a 6 meses.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Necrosis, colecciones o gravedad mayor: individualizar y diferir la cirugía hasta estabilidad clínica.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SEGUIMIENTO TRAS EL ALTA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Seguimiento tras el alta: síntomas y colecciones pancreáticas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657600"/>
            <a:ext cx="10378440" cy="32004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29409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92833" y="3534156"/>
            <a:ext cx="237744" cy="237744"/>
          </a:xfrm>
          <a:prstGeom prst="ellipse">
            <a:avLst/>
          </a:prstGeom>
          <a:noFill/>
          <a:ln w="1905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02561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1560" y="1874519"/>
            <a:ext cx="232029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1874519"/>
            <a:ext cx="232029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2011679"/>
            <a:ext cx="204597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Alta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Recuperación inicial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2B2C4A"/>
                </a:solidFill>
                <a:latin typeface="Montserrat"/>
              </a:rPr>
              <a:t>Confirmar analgesia, tolerancia oral, control clínico y plan biliar.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4019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7171" y="3758184"/>
            <a:ext cx="18288" cy="128015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46170" y="3886200"/>
            <a:ext cx="232029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46170" y="3886200"/>
            <a:ext cx="2320290" cy="4572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83330" y="4023360"/>
            <a:ext cx="204597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4–6 semanas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Revisión dirigida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2B2C4A"/>
                </a:solidFill>
                <a:latin typeface="Montserrat"/>
              </a:rPr>
              <a:t>Valorar dolor, fiebre, saciedad precoz e intolerancia oral persistentes.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8629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91781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40780" y="1874519"/>
            <a:ext cx="232029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1874519"/>
            <a:ext cx="232029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7940" y="2011679"/>
            <a:ext cx="204597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&gt;4 semanas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Colección encapsulada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2B2C4A"/>
                </a:solidFill>
                <a:latin typeface="Montserrat"/>
              </a:rPr>
              <a:t>Pseudoquiste: colección encapsulada sin detritos; necrosis encapsulada: contiene detritos.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13239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986391" y="3758184"/>
            <a:ext cx="18288" cy="128015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835390" y="3886200"/>
            <a:ext cx="232029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35390" y="3886200"/>
            <a:ext cx="2320290" cy="4572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72550" y="4023360"/>
            <a:ext cx="204597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Signos de alarma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Reevaluar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2B2C4A"/>
                </a:solidFill>
                <a:latin typeface="Montserrat"/>
              </a:rPr>
              <a:t>Fiebre, ictericia, dolor o vómitos persistentes exigen nueva valoración.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Control a 4–6 semanas si hay síntomas o complicaciones; no indicar TC rutinaria en asintomáticos recuperados.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BIBLIOGRAFÍA CLÍNICA COMPLEMENTARIA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Fuentes complementarias: diagnóstico y manejo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1170432"/>
            <a:ext cx="164592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21240" y="1170432"/>
            <a:ext cx="1645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REFERENCIAS ·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Banks PA, et al. Gut. 2013;62:102–111. doi:10.1136/gutjnl-2012-302779.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Tenner S, et al. Am J Gastroenterol. 2024;119:419–437. doi:10.14309/ajg.0000000000002645.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Saluja A, et al. Gastroenterology. 2019;156:1979–1993. doi:10.1053/j.gastro.2019.01.268.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de-Madaria E, et al. N Engl J Med. 2022;387:989–1000. doi:10.1056/NEJMoa2202884.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da Costa DW, et al. Lancet. 2015;386:1261–1268. doi:10.1016/S0140-6736(15)00274-3.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Expert Panel GI Imaging, et al. J Am Coll Radiol. 2019;16:S316–S330. doi:10.1016/j.jacr.2019.05.017.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Citas completas y correspondencia con los contenidos: ver guion maestro.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BIBLIOGRAFÍA DE ANATOMÍA E IMAGEN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Fuentes complementarias: anatomía, patología e imagen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SEMINARIO INTEGRADOR · 5.º SEMESTRE · SECCIÓN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63040"/>
            <a:ext cx="10972800" cy="6477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631442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3144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REF. 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554480"/>
            <a:ext cx="8503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Balthazar EJ, et al. Radiology. 1990;174:331–336.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238756"/>
            <a:ext cx="10972800" cy="6477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407158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407158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REF. 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330196"/>
            <a:ext cx="8503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Kumar V, Abbas AK, Aster JC. Robbins &amp; Cotran. 10.ª ed. Elsevier; 2020.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014472"/>
            <a:ext cx="10972800" cy="6477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182874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874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REF. 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105912"/>
            <a:ext cx="8503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Murphy MC, et al. Insights Imaging. 2020;11:13.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790187"/>
            <a:ext cx="10972800" cy="6477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395859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958590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REF.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3881627"/>
            <a:ext cx="8503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Wright WF. J Am Osteopath Assoc. 2016;116:398–401.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565904"/>
            <a:ext cx="10972800" cy="6477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4734306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734306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REF. 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4657344"/>
            <a:ext cx="8503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Thompson DR. Am J Gastroenterol. 2001;96:1266–1272.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5341620"/>
            <a:ext cx="10972800" cy="6477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77240" y="5510022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51002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REF.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5433060"/>
            <a:ext cx="8503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Moore KL, Dalley AF, Agur AMR. Clinically Oriented Anatomy. 9.ª ed. 2023.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DOI completos y créditos institucionales: ver guion maestro; añadir la planificación y el PPTX al recibirlos.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