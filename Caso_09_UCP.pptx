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SEMINARIO · CASO CLÍNICO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Caso Clínico 09: pancreatitis aguda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Centro Tecnológico I · 5.º Semestre · Sección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UNIVERSIDAD CENTRAL DEL PARAGUAY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 i="1">
                <a:solidFill>
                  <a:srgbClr val="FFFFFF"/>
                </a:solidFill>
                <a:latin typeface="Montserrat"/>
              </a:rPr>
              <a:t>Docente: [Nombre] · Cátedra: [Nombre] · Unidad: [Nombre]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EQUIPO Y DATOS ACADÉMICOS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Integrantes y distribución de la exposición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DOCENTE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[Nombre completo]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1836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CÁTEDRA Y UNIDAD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351836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351836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[Cátedra] · [Unidad]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6353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INTEGRANTES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286353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286353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[Nombre 1] · [Nombre 2] · [Nombre 3] · [Nombre 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087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RELATORÍA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2087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22087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R1: apertura, caso y diagnóstico (1–4); R2: mecanismo y clínica (5–6); R3: patología e imagen (7–11); R4: tratamiento, APS y fuentes (12–14).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55387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SUSTENTACIÓN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155387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155387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Todos responden el banco común; confirmar nombres, vocería y cronómetro.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Tiempo sugerido: hasta 2:30 min por relator; ajustar el reparto al equipo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HISTORIA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Historia clínica: mujer de 38 años con dolor abdominal agudo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ANTECEDENTE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Enfermedad vesicular de larga evolución.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1836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DOLOR Y EXAMEN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351836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351836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Dolor medio, súbito e intenso; hipersensibilidad superior y ruidos intestinales reducidos.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6353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RADIOGRAFÍA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286353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286353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Sin aire libre; edema marcado de tejidos blandos.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087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TC Y LIPASA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2087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22087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Menor atenuación y densidad líquida pancreática; lipasa elevada, sin valor informado.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55387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MANEJO Y EVOLUCIÓN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155387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155387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Líquidos IV y sonda nasogástrica; recuperación gradual.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Relato transcrito; lipasa sin valor/LSN y TC sin informe completo. No añadir datos no consignados.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DIAGNÓSTICO PROBABLE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El cuadro es compatible con pancreatitis aguda de posible origen biliar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CRITERIOS DE ATLANTA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Dolor compatible + TC con alteración pancreática descrita; la imagen debe confirmarse como característica. Lipasa elevada, sin cuantificación.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1836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DIAGNÓSTICO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351836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351836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Pancreatitis aguda probable; dolor e imagen pueden aportar 2 de los 3 criterios diagnósticos.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6353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ETIOLOGÍA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286353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286353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Origen biliar posible por enfermedad vesicular de larga evolución; no confirmado sin ecografía o datos bioquímicos.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087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GRAVEDAD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2087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22087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Recuperación gradual; faltan datos para clasificar fallo orgánico y gravedad según Atlanta.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55387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DIAGNÓSTICOS DIFERENCIALES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155387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155387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Perforación, obstrucción, colecistitis/colangitis y otras causas de abdomen agudo; Rx sin aire libre no excluye por sí sola perforación.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lipasa no está expresada como múltiplo del límite superior normal (LSN).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MECANISMO ETIOLÓGICO PROPUESTO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Una posible obstrucción biliar puede iniciar la lesión pancreática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ANTECEDENTE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Enfermedad vesicular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La historia prolongada del caso hace plausible, pero no confirma, origen biliar.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OBSTRUCCIÓN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Impactación distal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Un cálculo ampular puede elevar presión ductal e impedir el drenaje.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ACINO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Activación enzimática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Ca²⁺ sostenido y colocalización lisosoma-zimógeno favorecen activación de tripsinógeno.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INFLAMACIÓN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Daño local y sistémico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Tripsina, lipasa y elastasa lesionan tejido; histamina y citocinas amplifican la respuesta.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La hipótesis de Opie propone obstrucción ampular y posible reflujo biliar en ciertas anatomías; el reflujo no es un requisito universal. En este caso no se aporta ecografía que documente un cálculo.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TNF-α e IL-1/IL-6 son citocinas; la elastasa puede dañar vasos y la lipasa favorece necrosis grasa.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MANIFESTACIONES Y EXAMEN FÍSICO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El examen muestra dolor superior y ruidos intestinales reducidos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DOLOR REFERIDO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Aferencias esplácnicas y plexo celíaco; la convergencia torácica T5–T9 puede referir dolor al dorso.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1836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CELSO Y GALENO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351836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351836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Tétrada de Celso: rubor, calor, tumor y dolor. Galeno añade functio laesa (pérdida de función).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6353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RUIDOS INTESTINALES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286353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286353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En el caso están reducidos; pueden acompañar íleo, pero este dato aislado no lo confirma.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087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CULLEN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2087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22087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Equimosis periumbilical tardía e infrecuente; el texto no informa si estaba presente.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55387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GREY TURNER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155387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155387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Equimosis en flancos tardía e infrecuente; el texto no informa si estaba presente.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No se describen equimosis; dato no informado no equivale a examen negativo.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CORRELACIÓN MACROSCÓPICA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Saponificación y necrosis grasa en la pieza pancreática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Fotografía macroscópica oficial del Caso 09 | páncreas y focos cerosos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lipasa libera ácidos grasos que se unen al calcio (Ca²⁺) y forman jabones insolubles blancos.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Insertar la foto original; rotular solo páncreas, grasa y focos visibles. No usar imagen generada.  •  Crédito: Fotografía macro oficial del Caso 09; archivo visual no accesible.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CORRELACIÓN MICROSCÓPICA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Diagnóstico anatomopatológico: pendiente de revisar la imagen oficial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Microfotografía H&amp;E oficial del Caso 09 | necrosis grasa/saponificación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H&amp;E (hematoxilina-eosina): buscar adipocitos necróticos y depósitos basófilos solo si son visibles.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No afirmar un diagnóstico histológico final sin revisar la microfotografía original.  •  Crédito: Microfotografía oficial H&amp;E del Caso 09; archivo visual no accesible.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PATRONES MORFOLÓGICOS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pancreatitis edematosa y la necrotizante tienen patrones distintos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INTERSTICIAL EDEMATOSA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Parénquima con realce conservado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Edema intersticial con arquitectura pancreática conservada.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No hay necrosis parenquimatosa en este patrón.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La gravedad clínica requiere evaluar fallo orgánico y complicaciones.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NECROTIZANTE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Daño parenquimatoso o peripancreático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En TC contrastada oportuna puede verse tejido sin realce.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La elastasa puede degradar la pared vascular y favorecer hemorragia.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Puede coexistir necrosis grasa con saponificación.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Atlanta separa morfología (intersticial/necrotizante) de gravedad clínica (fallo orgánico/complicaciones).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SELECCIÓN DE ESTUDIOS DE IMAGEN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Cada modalidad responde una pregunta clínica diferente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AIRE LIBRE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Radiografía simple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Caso 09: no se observó aire libre; se describió edema de tejidos blandos.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LITIASIS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Ecografía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Busca cálculos y dilatación biliar; no se informa ecografía en el caso.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PÁNCREAS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TC con contraste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Caso 09: menor atenuación y densidad líquida; falta el informe radiológico completo.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CTSI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Índice de Balthazar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Puntaje morfológico 0–10; complementa y no reemplaza la gravedad de Atlanta.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La TC no se usa de rutina al ingreso para graduar gravedad. Si hay incertidumbre, deterioro o falta de mejoría, puede evaluar complicaciones; para necrosis suele ser más útil tras 48–72 h, según evolución.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CTSI (índice de gravedad por TC): grado A–E (0–4) + necrosis (0; &lt;30%=2; 30–50%=4; &gt;50%=6) = 0–10.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ECOGRAFÍA DE LA VESÍCULA BILIAR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Cálculo, barro y pólipo se diferencian por movilidad y sombra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407"/>
                <a:gridCol w="4761781"/>
                <a:gridCol w="3726611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HALLAZGO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ECOGENICIDAD Y MOVILIDAD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SOMBRA POSTERIOR / CLAVE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Bilis normal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Anecoica; vesícula distendida.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Luz sin ecos internos.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Cálculo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Hiperecogénico; suele moverse con el decúbito.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Sombra acústica posterior.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Barro biliar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Ecos bajos dependientes; se desplaza o estratifica.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Habitualmente sin sombra limpia.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Pólipo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Lesión mural fija; no cambia de posición.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Habitualmente sin sombra posterior.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Ayuno 6–8 h; documentar planos longitudinal/sagital y transversal/axial, posición y sombra acústica.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historia menciona enfermedad vesicular; no se aporta ecografía que confirme cálculos.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TRATAMIENTO DURANTE EL EPISODIO AGUDO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Individualizar hidratación, analgesia, alimentación y antimicrobianos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683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854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Líquidos intravenosos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Caso 09: líquidos IV; solución y volumen no consignados. Preferir cristaloide balanceado y reevaluar perfusión y sobrecarga.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58135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306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24988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Cloruro y acidosis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El exceso de cloruro (Cl⁻) puede causar acidosis hiperclorémica; el efecto del pH bajo sobre zimógenos es experimental.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5158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59505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Analgesia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Morfina no está prohibida por una supuesta contraindicación absoluta; titular y vigilar sedación, función renal e íleo.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5038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209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94022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Antibióticos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No indicar profilaxis para pancreatitis o necrosis estéril; tratar infección documentada o clínicamente sospechada.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109728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384901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66613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228539"/>
            <a:ext cx="10195560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Sonda y nutrición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Caso 09: sonda nasogástrica. No es rutinaria si tolera vía oral; iniciar alimentación temprana según tolerancia.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CPRE = colangiopancreatografía retrógrada endoscópica; reservar para colangitis u obstrucción biliar persistente.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PREVENCIÓN SECUNDARIA Y 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evaluación biliar y la cirugía oportuna reducen recurrencias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4023360" cy="4526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4023360" cy="5486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5200" b="1" i="0">
                <a:solidFill>
                  <a:srgbClr val="FFFFFF"/>
                </a:solidFill>
                <a:latin typeface="Montserrat"/>
              </a:rPr>
              <a:t>17 % / 5 %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657600"/>
            <a:ext cx="1097280" cy="2286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566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PONCHO: reingreso por complicación biliar o muerte; cirugía diferida vs mismo ingreso (6 meses).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417320"/>
            <a:ext cx="6675120" cy="1386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54864" cy="13868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27048"/>
            <a:ext cx="6263640" cy="1167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Atención primaria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Investigar cólico biliar, litiasis y episodios previos; solicitar ecografía según sospecha y coordinar derivación.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987040"/>
            <a:ext cx="6675120" cy="1386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2987040"/>
            <a:ext cx="54864" cy="13868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096768"/>
            <a:ext cx="6263640" cy="1167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Colecistectomía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En pancreatitis biliar leve y paciente apto, realizar durante el mismo ingreso; necrosis/colecciones requieren individualizar y diferir.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4556760"/>
            <a:ext cx="6675120" cy="1386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4556760"/>
            <a:ext cx="54864" cy="13868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666488"/>
            <a:ext cx="6263640" cy="1167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Control a 4–6 semanas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Revisar síntomas persistentes. Tras 4 semanas: pseudoquiste sin detritos; necrosis encapsulada si contiene detritos.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PONCHO: 17 % con cirugía diferida vs 5 % en el mismo ingreso. No afirmar «30 % en 3 meses» sin fuente.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FUENTES COMPLEMENTARIAS SELECCIONADAS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Fuentes para diagnóstico, mecanismos y manejo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SEMINARIO · CASO CLÍNICO · 5.º SEMESTRE · SECCIÓN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170432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17043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REFERENCIAS ·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Banks PA, et al. Gut. 2013;62:102–111. doi:10.1136/gutjnl-2012-302779.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Tenner S, et al. Am J Gastroenterol. 2024;119:419–437. doi:10.14309/ajg.0000000000002645.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Saluja A, et al. Gastroenterology. 2019;156:1979–1993. doi:10.1053/j.gastro.2019.01.268.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9826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98264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da Costa DW, et al. Lancet. 2015;386:1261–1268. doi:10.1016/S0140-6736(15)00274-3.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395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39512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Moore KL, Dalley AF, Agur AMR. Clinically Oriented Anatomy. 9th ed. Wolters Kluwer; 2023.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Balthazar EJ, et al. Radiology. 1990;174:331–336. doi:10.1148/radiology.174.2.2296641.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Kumar V, Abbas AK, Aster JC. Robbins &amp; Cotran. 10th ed. Elsevier; 2020.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Murphy MC, et al. Insights Imaging. 2020;11:13. doi:10.1186/s13244-019-0825-4.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39826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9.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98264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Wright WF. J Am Osteopath Assoc. 2016;116:398–401. doi:10.7556/jaoa.2016.081.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23951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239512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Thompson DR. Am J Gastroenterol. 2001;96:1266–1272. doi:10.1111/j.1572-0241.2001.03536.x.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Bibliografía añadida para respaldar contenidos generales; sustituir o reducir según las fuentes verificadas del PDF original.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