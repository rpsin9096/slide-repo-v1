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Fisiopatologia hematológica: plaquetas, coagulação e anemias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Guia de estudo: distúrbios plaquetários, CID, eritrócitos e anemias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Distúrbios plaquetários e hemostasia primária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Trombocitopenia, trombocitopatia e os mecanismos de destruição plaquetária.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TROMBOCITOPENIA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Definição e três vias de redução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DECLARAÇÃO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Trombocitopenia é a contagem de plaquetas periféricas abaixo de 150.000/µL, causada por produção medular insuficiente, sequestro esplênico ou destruição acelerada.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As três vias atuam isoladas ou combinadas; a classificação seguinte separa as etiologias pelo compartimento lesado.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538581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020055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Produção reduzida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Megacariócitos suprimidos por aplasia, infiltração neoplásica, HIV ou citotóxicos.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794760"/>
            <a:ext cx="538581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37947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959352"/>
            <a:ext cx="5020055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Destruição acelerada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Mecanismos imunes ou agressão mecânica microvascular consomem plaquetas além da reposição.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Etiologias pelo compartimento lesado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371600"/>
            <a:ext cx="4572000" cy="50292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7160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TROMBOCITOPENIA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74519"/>
            <a:ext cx="18288" cy="3200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7816" y="2194560"/>
            <a:ext cx="7485888" cy="18288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8672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MEDULA ÓSSEA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Produção insuficiente de megacariócitos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Aplasia medular por falência de células-tronco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Leucemia ou metástases infiltrativas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HIV, quimioterapia e radioterapia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7304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7304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4464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BAÇO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184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Sequestro e represamento de plaquetas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Esplenomegalia retém até 90% das plaquetas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Baço normal retém de 30% a 40% da massa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4560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0247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0247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CIRCULAÇÃO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7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Sobrevida diminuída de origem não imunitária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Próteses valvares fragmentam plaquetas por cisalhamento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Hipertensão maligna e fibrina fragmentam plaquetas e eritrócitos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CIVD e púrpura trombocitopênica trombótica consomem plaquetas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SEQUESTRO ESPLÊNICO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Plaquetopenia sem falha de produção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023360" cy="4526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4023360" cy="5486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Montserrat"/>
              </a:rPr>
              <a:t>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657600"/>
            <a:ext cx="1097280" cy="2286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566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das plaquetas periféricas podem ser sequestradas por baço aumentado, com plaquetopenia dilucional aparente.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417320"/>
            <a:ext cx="667512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54864" cy="21717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27048"/>
            <a:ext cx="6263640" cy="19522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Baço normal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Retém entre 30% e 40% da massa de plaquetas antes da liberação para a circulação.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771900"/>
            <a:ext cx="6675120" cy="2171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3771900"/>
            <a:ext cx="54864" cy="21717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881628"/>
            <a:ext cx="6263640" cy="19522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Leitura do exame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 contagem cai, mas a medula continua produzindo. O problema está na distribuição.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FÁRMACOS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Cinética da trombocitopenia induzida por fármacos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10378440" cy="3200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184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5268" y="3534156"/>
            <a:ext cx="237744" cy="237744"/>
          </a:xfrm>
          <a:prstGeom prst="ellipse">
            <a:avLst/>
          </a:prstGeom>
          <a:noFill/>
          <a:ln w="1905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499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5420" y="1891283"/>
            <a:ext cx="2377440" cy="15377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5420" y="1891283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2579" y="2028443"/>
            <a:ext cx="2103120" cy="126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2 a 3 dias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Reexposição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A memória imunológica dispara queda abrupta da contagem plaquetária.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32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3758184"/>
            <a:ext cx="18288" cy="128015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14900" y="3886200"/>
            <a:ext cx="2377440" cy="15377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4900" y="3886200"/>
            <a:ext cx="2377440" cy="4572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2060" y="4023360"/>
            <a:ext cx="2103120" cy="126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7 dias ou mais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Primeira exposição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Janela necessária para a síntese de anticorpos antes da queda plaquetária.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0803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395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4379" y="1891283"/>
            <a:ext cx="2377440" cy="15377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4379" y="1891283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1539" y="2028443"/>
            <a:ext cx="2103120" cy="126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Após suspensão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Recuperação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Descontinuar o fármaco causador restaura rapidamente os níveis plaquetários normais.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Mecanismo da destruição imune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Autotolerância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Linfócitos T auxiliares CD4 e T reguladores falham e perdem a autotolerância.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Autoanticorpos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Anticorpos opsonizam GPIIb/IIIa e GPIb/IX da membrana plaquetária.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Reconhecimento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Macrófagos do baço reconhecem plaquetas e eritrócitos opsonizados.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Fagocitose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Fagocitose acelerada reduz a contagem; a trombopoietina permanece baixa ou normal.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A perda de autotolerância inicia a cadeia; a fagocitose esplênica é o desfecho que reduz a contagem.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PTI primária ou secundária?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PTI PRIMÁRIA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Doença idiopática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Surge sem fator desencadeante ou doença prévia.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Autoanticorpos antiplaquetários com depuração excessiva pelo baço.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Doença autoimune de origem idiopática.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PTI SECUNDÁRIA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Gatilho clínico identificável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Associada a HIV, lúpus eritematoso sistêmico e síndrome antifosfolípide.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Inclui leucemia linfocítica crônica, hepatite C e heparina.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Mesma base imune da forma primária: autoanticorpos e fagocitose.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PLAQUETAS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Déficit quantitativo ou qualitativo?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TROMBOCITOPENIA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Déficit numérico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Contagem abaixo de 150.000/µL no sangue periférico.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Petéquias surgem somente quando há deficiência quantitativa.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Pode resultar de produção, sequestro ou destruição.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TROMBOCITOPATIA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Déficit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Contagem celular basal frequentemente normal.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Ácido acetilsalicílico acetila a ciclo-oxigenase de forma irreversível.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Outros AINEs inibem a ciclo-oxigenase só enquanto o fármaco circula.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Coagulopatias e integridade vascular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Sangramentos profundos após trauma ou cirurgia, e vasos frágeis por causa estrutural.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COAGULOPATIAS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Coagulopatias hereditárias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79"/>
                <a:gridCol w="4389120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DOENÇA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DEFEITO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CARACTERÍSTICA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Doença de von Willebrand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Adesão plaquetária e carreador do fator VIII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Coagulopatia hereditária mais prevalente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Hemofilia 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Deficiência do fator VIII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Congênita, funcional ou quantitativa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Hemofilia B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Deficiência do fator IX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Deficiência congênita do fator IX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CONCLUSÃO EDITORIAL:  A doença de von Willebrand compromete a adesão plaquetária e o carreador do fator VIII.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INTEGRIDADE VASCULAR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Quatro causas de fragilidade capilar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9323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9323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TELANGIECTASIA HEREDITÁRIA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49323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49323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Transtorno autossômico com capilares e arteríolas dilatadas de paredes delgadas.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1468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146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ESCORBUTO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01468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601468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Deficiência de vitamina C: colágeno defeituoso impede o cimentamento endotelial.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3611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DOENÇA DE CUSHING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53611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753611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Hipercortisolismo causa catabolismo proteico e perda do suporte perivascular.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05756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5756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PÚRPURA SENIL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905756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905756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Envelhecimento reduz o colágeno dérmico e causa equimoses fáceis nos idosos.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Coagulação intravascular disseminada [CID]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Ativação desregulada da coagulação que consome a reserva hemostática e causa hemorragia.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Cascata da coagulação intravascular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Gatilho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Fator tecidual de placenta, tumores ou queimaduras, além de sepse e choque, ativa a coagulação.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Trombina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Geração descontrolada de trombina forma microtrombos de fibrina na microcirculação.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Consumo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Fatores V, VIII, fibrinogênio e plaquetas se esgotam; redes de fibrina rompem eritrócitos.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Hemorragia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 plasmina gera PDF, que inibe a trombina e a agregação plaquetária.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A trombina descontrolada gera trombose e consumo; a plasmina gera PDF que sustenta a hemorragia.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Eritrócitos e classificação das anemias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Eritropoiese, valores de referência e os critérios que separam os tipos de anemia.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ERITRÓCITO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Ciclo de produção e destruição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16</a:t>
            </a:r>
          </a:p>
        </p:txBody>
      </p:sp>
      <p:sp>
        <p:nvSpPr>
          <p:cNvPr id="8" name="Right Arrow 7"/>
          <p:cNvSpPr/>
          <p:nvPr/>
        </p:nvSpPr>
        <p:spPr>
          <a:xfrm rot="1847100">
            <a:off x="7197515" y="2154656"/>
            <a:ext cx="402336" cy="201168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6696938">
            <a:off x="7954195" y="4174443"/>
            <a:ext cx="402336" cy="201168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0800000">
            <a:off x="5894222" y="5477993"/>
            <a:ext cx="402336" cy="201168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 rot="14903062">
            <a:off x="3834249" y="4174443"/>
            <a:ext cx="402336" cy="201168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 rot="19752900">
            <a:off x="4590929" y="2154656"/>
            <a:ext cx="402336" cy="201168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98110" y="1475841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7838" y="1567281"/>
            <a:ext cx="1975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Sensor renal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Queda da pressão tecidual de oxigênio estimula a secreção de eritropoietina.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8296" y="2667482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8024" y="2758922"/>
            <a:ext cx="1975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Medula óssea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A eritropoietina acelera a liberação de reticulócitos a partir de progenitores.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4293" y="4595597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4021" y="4687037"/>
            <a:ext cx="1975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Circulação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E0E4FF"/>
                </a:solidFill>
                <a:latin typeface="Montserrat"/>
              </a:rPr>
              <a:t>Vida útil média de 120 dias, com depuração basal de 1% ao 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1927" y="4595597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1655" y="4687037"/>
            <a:ext cx="1975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Macrófagos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Baço, fígado e medula fagocitam hemácias senescentes e clivam a globina.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7924" y="2667482"/>
            <a:ext cx="21945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7652" y="2758922"/>
            <a:ext cx="1975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Reaproveitamento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O ferro retorna à medula; o anel porfirínico vira bilirrubina não conjugada.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18150" y="340614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9590" y="340614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3854CC"/>
                </a:solidFill>
                <a:latin typeface="Montserrat"/>
              </a:rPr>
              <a:t>Eritrócito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LABORATÓRIO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Valores de referência eritrocitários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4389120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PARÂMETRO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HOMENS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MULHERES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SIGNIFICADO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Hemoglobina [g/dL]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14,0 a 16,5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12,0 a 15,0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Carreador total de oxigênio no sangue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Hematócrito [%]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40 a 50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37 a 47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Fração do volume globular em 100 mL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VCM [fL]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85 a 100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85 a 100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Tamanho médio de cada eritrócito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Reticulócitos [%]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1,0 a 1,5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1,0 a 1,5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Capacidade de produção da medula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CONCLUSÃO EDITORIAL:  Hemoglobina e hematócrito variam por sexo; VCM e reticulócitos têm a mesma faixa.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Anemia limita a entrega de oxigênio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DECLARAÇÃO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Anemia é a redução anormal de hemoglobina e eritrócitos circulantes, que limita a entrega tecidual de oxigênio.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O organismo responde com três eixos: maior cedência tecidual, redistribuição do fluxo e aumento do débito cardíaco.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Cedência tecidual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 hemoglobina desvia a curva de dissociação para liberar mais oxigênio aos tecidos.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9016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1896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Redistribuição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Vasoconstrição na pele e nos rins preserva miocárdio e sistema nervoso central.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3672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3672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6551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Débito cardíaco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Com hemoglobina abaixo de 100 g/L, o débito sobe; hipóxia miocárdica causa angina.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Regenerativa ou arregenerativa?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ANEMIA REGENERATIVA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Medula íntegra responde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Reticulocitose acima de 1,5%.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Medula íntegra eleva a produção em perdas agudas.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Causada por hemorragia aguda profusa ou anemias hemolíticas.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ANEMIA ARREGENERATIVA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Medula incapaz de responder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Reticulocitopenia ou contagem baixa para o grau de anemia.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Medula sem resposta por esgotamento ou supressão.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Causada por carência de ferro, B12 ou folato, aplasia e neoplasia.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MORFOMETRIA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Classificação pelo VCM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371600"/>
            <a:ext cx="4572000" cy="50292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7160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ANEMIAS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74519"/>
            <a:ext cx="18288" cy="3200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7816" y="2194560"/>
            <a:ext cx="7485888" cy="18288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8672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MICROCÍTICAS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VCM abaixo de 83 fL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Anemia ferropriva e talassemia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Anemia sideroblástica, intoxicação por chumbo ou alumínio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Anemia de doenças crônicas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7304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7304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4464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NORMOCÍTICAS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184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VCM de 83 a 97 fL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Hemólise aguda e aplasia medular inicial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Hemorragia aguda recente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Anemia de doenças crônicas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4560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0247" y="2468880"/>
            <a:ext cx="3486911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0247" y="2468880"/>
            <a:ext cx="3486911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2514600"/>
            <a:ext cx="3212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MACROCÍTICAS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7" y="2971800"/>
            <a:ext cx="312115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VCM acima de 97 fL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Megaloblásticas por deficiência de B12 ou folato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Etilismo, hepatopatias crônicas e síndrome mielodisplásica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Hipotireoidismo e reticulocitose intensa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Anemias hemolíticas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Destruição prematura de hemácias, com reticulocitose compensatória e VCM normal.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HEMÓLISE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Intravascular ou extravascular?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HEMÓLISE INTRAVASCULAR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Ruptura dentro da circulação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Eritrócitos rompem diretamente dentro da circulação.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Complemento em transfusão incompatível, toxinas ou cisalhamento.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Hemoglobinemia livre, hemoglobinúria e hemossiderinúria renal.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HEMÓLISE EXTRAVASCULAR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Fagocitose esplênica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Macrófagos do baço fagocitam hemácias que perderam deformabilidade.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Icterícia por bilirrubina não conjugada e esplenomegalia.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Sem hemoglobinúria.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ESFEROCITOSE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Esferocitose hereditária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VINHETA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Anomalia autossômica dominante da membrana eritrocitária. A perda de fragmentos de membrana converte o eritrócito em esferócito rígido.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ACHADOS CLÍNICOS &amp; EXAMES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Anemia hemolítica crônica leve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Icterícia e esplenomegalia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Cálculos de bilirrubina pigmentar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RAZIOCÍNIO DIAGNÓSTICO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Sem flexibilidade, os esferócitos ficam retidos no baço e são fagocitados prematuramente. A tríade é anemia leve, icterícia e esplenomegalia.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Esferocitose hereditária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PÉROLA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A esplenectomia remove o principal sítio de destruição; a infecção por parvovírus B19 pode causar crise aplásica.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HEMOGLOBINOPATIA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Vaso-oclusão na doença falciforme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Mutação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Valina substitui o ácido glutâmico na cadeia beta da hemoglobina.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Polimerização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Desoxi-HbS forma gel semissólido sob hipóxia, desidratação ou acidose.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Falcização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O citoesqueleto enrijece e a célula vira foice; a lesão de membrana torna-se permanente.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Oclusão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Hemácias rígidas aderem ao endotélio e bloqueiam a microcirculação terminal.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Crises dolorosas e síndrome torácica aguda são as complicações mais graves; a síndrome torácica é a principal causa de óbito.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CAPÍTULO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Anemias por insuficiência de produção medular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Ferro, vitaminas e falência de precursores reduzem a produção de hemácias.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FERROPRIVA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Quem perde ou demanda mais ferro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9323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9323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ADULTOS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49323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49323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Perda crônica oculta por úlcera, pólipos, hemorroidas ou câncer colorretal.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1468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146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MULHERES EM IDADE FÉRTIL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01468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601468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Menorragia e perdas menstruais abundantes.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3611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GESTANTES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53611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753611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Crescimento fetal e expansão da volemia aumentam a demanda basal.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05756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5756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LACTENTES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905756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905756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Leite de vaca não fortificado tem baixa biodisponibilidade de ferro.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Absorção diária necessária: 1 mg a 2 mg de ferro, para suprir a perda fecal.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MEGALOBLÁSTICA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Vitamina B12 versus ácido fólico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184"/>
                <a:gridCol w="4220307"/>
                <a:gridCol w="4220307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CRITÉRIO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VITAMINA B12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ÁCIDO FÓLICO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Mecanismo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Cofator na síntese de DNA e no metabolismo de ácidos graxos neuronais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Cofator na síntese de purinas e DNA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Lesão neurológica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Desmielinização dos cordões posteriores e laterais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Ausente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Causas principais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Anemia perniciosa, gastrectomia, ressecção ileal e metformina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Desnutrição, etilismo, doença celíaca e metotrexato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CONCLUSÃO EDITORIAL:  A neuropatia distingue a B12; o folato causa macrocitose sem dano aos cordões espinais.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APLASIA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Formas da anemia aplásica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371600"/>
            <a:ext cx="4572000" cy="50292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7160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ANEMIA APLÁSICA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74519"/>
            <a:ext cx="18288" cy="3200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2194560"/>
            <a:ext cx="5614416" cy="18288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468880"/>
            <a:ext cx="5358384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5358384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5084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ADQUIRIDAS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99262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Falência após agressão ou de causa idiopática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Idiopática autoimune, cerca de 65% dos diagnósticos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Benzeno, cloranfenicol, quimioterapia e radiação ionizante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Hepatite seronegativa, mononucleose e HIV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8824" y="2194560"/>
            <a:ext cx="18288" cy="2743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468880"/>
            <a:ext cx="5358384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2468880"/>
            <a:ext cx="5358384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514600"/>
            <a:ext cx="5084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3854CC"/>
                </a:solidFill>
                <a:latin typeface="Montserrat"/>
              </a:rPr>
              <a:t>HEREDITÁRIAS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971800"/>
            <a:ext cx="499262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CA2728"/>
                </a:solidFill>
                <a:latin typeface="Montserrat"/>
              </a:rPr>
              <a:t>Falência por defeito genético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Anemia de Fanconi: rádios, polegares e baixa estatura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• Mutações nos complexos enzimáticos da telomerase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POLICITEMIA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Três tipos de policitemia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373"/>
                <a:gridCol w="2898475"/>
                <a:gridCol w="2898475"/>
                <a:gridCol w="2898475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CRITÉRIO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RELATIVA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PRIMÁRIA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SECUNDÁRIA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Mecanismo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Contração do volume plasmático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Neoplasia mieloproliferativa clonal, com panmielose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Eritropoietina estimulada por hipóxia ou secreção ectópica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Causas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Desidratação, diuréticos, diarreia e vômitos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Mutação somática JAK2 V617F ou no éxon 12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Altitude, DPOC, cardiopatia cianótica, tabagismo ou isquemia renal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Diagnóstico-chave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Hematócrito alto com volume plasmático reduzido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Critérios maiores e menor da OMS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Causa hipóxica identificável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CONCLUSÃO EDITORIAL:  Hematócrito acima de 50% eleva a viscosidade do sangue e predispõe a eventos trombóticos.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REVISÃO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Termos-chave do guia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FISIOPATOLOGIA HEMATOLÓGICA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170432"/>
            <a:ext cx="19202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170432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GLOSSÁRIO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MEGACARIÓCITO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85415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Célula da medula óssea que origina as plaquetas.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02636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30651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OPSONIZAÇÃO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1547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Revestimento de plaquetas ou hemácias por anticorpos, que sinaliza fagocitose.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58768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86783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TROMBOXANO 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Mediador da agregação plaquetária, bloqueado pelo ácido acetilsalicílico.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914900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42915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TROMBOPOIETINA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53811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Hormônio que estimula a produção de plaquetas na medula óssea.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874519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185415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Ativação desregulada da coagulação, com consumo de fatores e hemorragia.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2802636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930651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241547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Produtos de degradação da fibrina, que inibem a trombina e a agregação.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3858768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986783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ERITROPOIETINA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297679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Hormônio renal que acelera a produção de eritrócitos sob hipóxia.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914900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5042915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RETICULÓCITO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5353811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Eritrócito jovem; sua taxa indica a capacidade de produção medular.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