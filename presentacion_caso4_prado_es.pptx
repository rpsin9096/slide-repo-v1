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CÁTEDRA: MEDICINA FAMILIAR · 3.ER AÑO · 5.º SEMESTRE · UNIDAD 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Trabajo 3: Casos clínicos de intervención en crisis familiar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Interpretación de los niveles de intervención · Caso 4: Sr. Prado · Dolor torácico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49240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E0E4FF"/>
                </a:solidFill>
                <a:latin typeface="Montserrat"/>
              </a:rPr>
              <a:t>UNIVERSIDAD CENTRAL DEL PARAGUAY (UCP)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715000"/>
            <a:ext cx="9448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 i="1">
                <a:solidFill>
                  <a:srgbClr val="FFFFFF"/>
                </a:solidFill>
                <a:latin typeface="Montserrat"/>
              </a:rPr>
              <a:t>Docente: Dra. Rossana Gauto · Nombre: ________ · Fecha: ___/___/____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COMPETENCIAS DE LA CÁTEDRA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Objetivos de aprendizaje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49323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49323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CONCEPTUAL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449323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449323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Explicar el Nivel 4 como evaluación funcional e intervención planificada; distinguir la hipótesis sistémica del diagnóstico orgánico confirmado.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01468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01468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PROCEDIMENTAL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601468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601468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Formular hipótesis, convocar a la familia, observar pautas de interacción y acordar cambios verificables con seguimiento a 15 días.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53611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ACTITUDINAL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3753611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3753611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Escuchar sin culpabilizar, rechazar coaliciones y no tomar partido; mantener una posición clínica neutral ante los reproches.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905756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905756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EVIDENCIAS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4905756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4905756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Presentar el mapa de tensiones, cuatro acuerdos verificables, indicadores de seguimiento y criterios de derivación al Nivel 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Trabajo 3 · Caso 4 · Niveles de intervención en crisis familiar.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CASO CLÍNICO · PREGUNTA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Sr. Prado, 42 años: síntoma y contexto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MOTIVO DE CONSULTA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41732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41732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Consulta repetidamente por dolor torácico recurrente pese a seguir el tratamiento médico.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51836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51836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PRUEBAS BASALES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351836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351836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Los estudios clínicos y complementarios disponibles se mantienen dentro de parámetros normales.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86353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286353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CAMBIOS EN 6 MESES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3286353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3286353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La esposa trabaja fuera limpiando; el hijo de 17 años trabaja tras el colegio; la hija de 21 anunció embarazo y matrimonio.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22087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2087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VIVENCIA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422087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422087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Se siente solo, desatendido e irritable; interpreta el empleo de su esposa como falta de atención a su salud y al hogar.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155387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155387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SÍNTOMA FUNCIONAL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94760" y="5155387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77639" y="5155387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El dolor puede ser una expresión psicosomática: malestar psicológico asociado a síntomas físicos; hipótesis a explorar, no explicación única.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Las pruebas basales normales no eliminan el dolor ni cierran la valoración clínica.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PREGUNTA 2 · VISIÓN BIOPSICOSOCIAL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Tensiones y crisis en el ciclo vital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6095390" y="1874519"/>
            <a:ext cx="0" cy="59436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313042" y="3138189"/>
            <a:ext cx="2173968" cy="362239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103909" y="4415170"/>
            <a:ext cx="1087617" cy="76768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999254" y="4415170"/>
            <a:ext cx="1087616" cy="76768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2703770" y="3138189"/>
            <a:ext cx="2173968" cy="362239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952390" y="32461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3830" y="3246120"/>
            <a:ext cx="2103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ontserrat"/>
              </a:rPr>
              <a:t>Sistema familiar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52390" y="13944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9550" y="14676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Economía y trabajo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La esposa limpia fuera para aumentar ingresos; disminuye el tiempo compartido.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44010" y="2658129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81170" y="2731281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Rol del adolescente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El hijo de 17 trabaja tras el colegio y pone en riesgo sus estudios.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8526" y="470279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85686" y="477594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Ciclo vital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Embarazo y boda de la hija de 21 años descolocan a los padres.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56254" y="470279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93414" y="477594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Vínculo conyugal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El trabajo se interpreta como desatención; surgen reproches y aislamiento.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60770" y="2658129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97930" y="2731281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Trastorno psicosomático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Dolor físico asociado a factores psicológicos; valorar el contexto familiar.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Crisis normativa del ciclo vital: embarazo y matrimonio; estresores no normativos: presión económica y trabajo adolescente.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LECTURA SISTÉMICA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Los cambios familiares se influyen entre sí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5435" y="1380744"/>
            <a:ext cx="7790649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aso4_red_famili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011" y="1417320"/>
            <a:ext cx="7717497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El trabajo, la escolaridad y las transiciones vitales convergen en la vivencia de soledad del paciente.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Ilustración generada con 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PREGUNTA 2 · NIVELES DE INTERVENCIÓN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Por qué este caso requiere Nivel 4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9428"/>
                <a:gridCol w="3265714"/>
                <a:gridCol w="5747657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NIVEL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FOCO CLÍNICO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INTERVENCIÓN DEL MÉDICO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1–2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Evaluación biomédica y consejería preventiva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Evaluar el síntoma y orientar la prevención.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3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Contención emocional inmediata ante una crisis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Acompañar y contener la crisis actual.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4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Hipótesis de trastorno psicosomático; pautas de interacción, no contenido.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Entrevista planificada; rechazar coaliciones y no tomar partido.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Terapia familiar especializada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Derivar ante persistencia, rigidez o patología grave.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El Nivel 4 pasa de la contención a cambiar pautas de interacción, sin asignar culpables ni tomar partido.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Trastorno psicosomático: síntoma físico asociado a factores psicológicos; hipótesis clínica por explorar.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MARCO TEÓRICO · ROL DEL MÉDICO FAMILIAR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Nivel 4: evaluación funcional e intervención planificada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El médico investiga y formula hipótesis sistémicas centradas en las relaciones familiares y en las pautas recurrentes de interacción; desplaza el foco del contenido superficial y de las causas aisladas.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10972800" cy="77724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508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0088"/>
            <a:ext cx="106070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2B2C4A"/>
                </a:solidFill>
                <a:latin typeface="Montserrat"/>
              </a:rPr>
              <a:t>Indicaciones: crisis no normativa que supera el Nivel 3; problemas de salud mental o disfunción familiar consolidada; crisis normativa con reorganización compleja (enfermedad crónica, invalidez, muerte o duelo).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94760"/>
            <a:ext cx="3523488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7947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59352"/>
            <a:ext cx="3157728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Detectar problemas psicosomáticos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Trastornos físicos asociados a factores psicológicos y tensiones relacionales; reconocer también disfunción familiar manifiesta.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9016" y="3794760"/>
            <a:ext cx="3523488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9016" y="37947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1896" y="3959352"/>
            <a:ext cx="3157728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Convocar a toda la familia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Comprometer al grupo completo en una entrevista planificada y estructurada.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3672" y="3794760"/>
            <a:ext cx="3523488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3672" y="37947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6551" y="3959352"/>
            <a:ext cx="3157728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Neutralidad clínica estricta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Apoyar por igual, rechazar coaliciones y evitar activamente tomar partido por cualquier integrante.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En el Sr. Prado, dolor y pruebas basales orientan una hipótesis; no confirman una causa única.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NIVEL 4 · ENTREVISTA PLANIFICADA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Entrevista conjunta, posición neutral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5435" y="1380744"/>
            <a:ext cx="7790649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trevista_familiar_planific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011" y="1417320"/>
            <a:ext cx="7717497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El clínico observa las pautas de interacción y escucha a la familia sin validar ataques ni tomar partido.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Ilustración generada con 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NIVEL 4 · ENTREVISTA PLANIFICADA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Observar pautas y neutralizar coaliciones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Priorizar las pautas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Intervenir en las pautas de interacción, no sobre las causas atribuidas ni el contenido de las quejas.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Escuchar a la familia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Convocar a todos y observar turnos, alianzas y reproches en el contexto de los cambios.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Rechazar coaliciones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La hija culpa a la madre por no cuidar al padre; el hijo la defiende y acusa a la hermana por el gasto.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Deshacer la triangulación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No tomar partido: sacar a los hijos del conflicto conyugal y pactar apoyo, responsabilidades y seguimiento.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29200"/>
            <a:ext cx="10972800" cy="1005839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635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En el Nivel 4, el médico interviene en las pautas de interacción y no sobre las causas atribuidas o el contenido de las quejas. Rechaza coaliciones, no toma partido y deshace la triangulación de los hijos en el conflicto conyugal.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089904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El objetivo es modificar el patrón relacional sin decidir quién tiene razón.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PREGUNTA 3 · ACUERDOS A CORTO PLAZO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Acuerdos funcionales, no culpables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3220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2481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0652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0535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Registrar el dolor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Anotar frecuencia, intensidad y estrés del día; revisar el patrón en consulta, no cada episodio de forma aislada.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92908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985515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67227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66060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Proteger la escuela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Priorizar la asistencia; limitar el trabajo del hijo a fines de semana o, como máximo, 2 horas diarias.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046220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27931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26763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Cuidar la pareja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Fijar un diálogo diario sin reproches y redistribuir tareas según la capacidad del padre.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81431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510692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8863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88746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Neutralizar coaliciones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La hija culpa a la madre; el hijo se alía con ella y reprocha los gastos del embarazo. El médico no toma partido y pacta apoyo mutuo.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El registro del dolor no sustituye la reevaluación clínica si cambia el cuadro.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PREGUNTA 4 · SEGUIMIENTO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Revisar acuerdos con indicadores concretos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4023360" cy="452628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4023360" cy="5486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5200" b="1" i="0">
                <a:solidFill>
                  <a:srgbClr val="FFFFFF"/>
                </a:solidFill>
                <a:latin typeface="Montserrat"/>
              </a:rPr>
              <a:t>15 días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7400" y="3657600"/>
            <a:ext cx="1097280" cy="2286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3566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50" b="0" i="0">
                <a:solidFill>
                  <a:srgbClr val="FFFFFF"/>
                </a:solidFill>
                <a:latin typeface="Montserrat"/>
              </a:rPr>
              <a:t>entre consultas de seguimiento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1417320"/>
            <a:ext cx="6675120" cy="1386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92040" y="1417320"/>
            <a:ext cx="54864" cy="13868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1527048"/>
            <a:ext cx="6263640" cy="1167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Dolor torácico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Medir intensidad y frecuencia para comprobar si disminuyen.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92040" y="2987040"/>
            <a:ext cx="6675120" cy="1386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92040" y="2987040"/>
            <a:ext cx="54864" cy="13868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3096768"/>
            <a:ext cx="6263640" cy="1167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Asistencia escolar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Verificar la asistencia completa del hijo de 17 años.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4556760"/>
            <a:ext cx="6675120" cy="1386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92040" y="4556760"/>
            <a:ext cx="54864" cy="13868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4666488"/>
            <a:ext cx="6263640" cy="1167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Acuerdos de pareja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Revisar el diálogo cotidiano y la redistribución de tareas.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revisión quincenal valora síntomas, escolaridad y convivencia; ajustar según la evolución clínica.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ESCALAMIENTO · NIVEL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Criterios de derivación especializada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6255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45516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3687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570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Síntoma persistente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El dolor persiste o empeora pese a los acuerdos y al seguimiento planificado.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223260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515868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97580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296412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Dinámica familiar rígida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Fracasan repetidamente los acuerdos y continúan la culpabilización o las alianzas destructivas entre padres e hijos.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28396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57657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5828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5711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Patología grave o riesgo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Depresión mayor, ideación suicida o violencia intrafamiliar requieren derivación inmediata a terapia familiar y salud mental.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ideación suicida o la violencia intrafamiliar no se aplazan a la revisión quincenal.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CIERRE CLÍNICO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Del síntoma al funcionamiento familiar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En el Nivel 4, el dolor torácico conserva su importancia clínica y, a la vez, se examina en relación con los cambios y las interacciones familiares.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10972800" cy="77724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508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0088"/>
            <a:ext cx="106070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2B2C4A"/>
                </a:solidFill>
                <a:latin typeface="Montserrat"/>
              </a:rPr>
              <a:t>La entrevista planificada transforma una hipótesis sistémica en acuerdos observables; el seguimiento indica si funcionan o si hace falta terapia familiar especializada.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94760"/>
            <a:ext cx="3523488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7947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59352"/>
            <a:ext cx="3157728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No buscar culpables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Frenar reproches y explorar cómo cada miembro interpreta los cambios.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9016" y="3794760"/>
            <a:ext cx="3523488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9016" y="37947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1896" y="3959352"/>
            <a:ext cx="3157728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Proteger funciones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Cuidar salud, escolaridad, vínculo de pareja y apoyo a la gestación.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3672" y="3794760"/>
            <a:ext cx="3523488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3672" y="37947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6551" y="3959352"/>
            <a:ext cx="3157728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Medir y escalar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Revisar dolor, asistencia y convivencia; derivar ante persistencia, rigidez o riesgo.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hipótesis psicosomática se revisa junto con la evolución clínica.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