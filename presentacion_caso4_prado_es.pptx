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640080"/>
            <a:ext cx="10728655" cy="557784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234440"/>
            <a:ext cx="9997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MEDICINA FAMILIAR Y COMUNITARIA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9997135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El dolor torácico en el sistema familiar</a:t>
            </a:r>
          </a:p>
        </p:txBody>
      </p:sp>
      <p:sp>
        <p:nvSpPr>
          <p:cNvPr id="8" name="Rectangle 7"/>
          <p:cNvSpPr/>
          <p:nvPr/>
        </p:nvSpPr>
        <p:spPr>
          <a:xfrm>
            <a:off x="5358384" y="4069080"/>
            <a:ext cx="146304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343400"/>
            <a:ext cx="94484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500" b="0" i="1">
                <a:solidFill>
                  <a:srgbClr val="E0E4FF"/>
                </a:solidFill>
                <a:latin typeface="Montserrat"/>
              </a:rPr>
              <a:t>Caso 4 · Sr. Prado · Intervención sistémica planificada · Nivel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349240"/>
            <a:ext cx="94484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000" b="1" i="0">
                <a:solidFill>
                  <a:srgbClr val="E0E4FF"/>
                </a:solidFill>
                <a:latin typeface="Montserrat"/>
              </a:rPr>
              <a:t>SEMINARIO CLÍNICO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715000"/>
            <a:ext cx="94484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100" b="0" i="1">
                <a:solidFill>
                  <a:srgbClr val="FFFFFF"/>
                </a:solidFill>
                <a:latin typeface="Montserrat"/>
              </a:rPr>
              <a:t>Caso 4 · Sr. Prado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APERTURA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Objetivos de la sesión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MEDICINA FAMILIAR Y COMUNITARIA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70432"/>
            <a:ext cx="2651760" cy="310896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170432"/>
            <a:ext cx="2651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OBJETIVOS DE APRENDIZAJE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65960"/>
            <a:ext cx="10972800" cy="8915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965960"/>
            <a:ext cx="64008" cy="89154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21056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21056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057400"/>
            <a:ext cx="8092440" cy="7086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1">
                <a:solidFill>
                  <a:srgbClr val="3854CC"/>
                </a:solidFill>
                <a:latin typeface="Montserrat"/>
              </a:rPr>
              <a:t>ANALIZAR — </a:t>
            </a:r>
            <a:r>
              <a:rPr sz="1150">
                <a:solidFill>
                  <a:srgbClr val="2B2C4A"/>
                </a:solidFill>
                <a:latin typeface="Montserrat"/>
              </a:rPr>
              <a:t>el dolor torácico recurrente con pruebas basales normales como hipótesis psicosomática, sin cerrar la evaluación clínica.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0" y="2256282"/>
            <a:ext cx="1691640" cy="310896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2256282"/>
            <a:ext cx="1691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CA2728"/>
                </a:solidFill>
                <a:latin typeface="Montserrat"/>
              </a:rPr>
              <a:t>ANALIZAR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985516"/>
            <a:ext cx="10972800" cy="8915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2985516"/>
            <a:ext cx="64008" cy="89154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323011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23011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076956"/>
            <a:ext cx="8092440" cy="7086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1">
                <a:solidFill>
                  <a:srgbClr val="3854CC"/>
                </a:solidFill>
                <a:latin typeface="Montserrat"/>
              </a:rPr>
              <a:t>RELACIONAR — </a:t>
            </a:r>
            <a:r>
              <a:rPr sz="1150">
                <a:solidFill>
                  <a:srgbClr val="2B2C4A"/>
                </a:solidFill>
                <a:latin typeface="Montserrat"/>
              </a:rPr>
              <a:t>los cambios laborales, escolares y del ciclo vital con la percepción de soledad y las interacciones familiares.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3275838"/>
            <a:ext cx="1691640" cy="310896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3275838"/>
            <a:ext cx="1691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CA2728"/>
                </a:solidFill>
                <a:latin typeface="Montserrat"/>
              </a:rPr>
              <a:t>ANALIZAR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005072"/>
            <a:ext cx="10972800" cy="8915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4005072"/>
            <a:ext cx="64008" cy="89154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424967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249674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096512"/>
            <a:ext cx="8092440" cy="7086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1">
                <a:solidFill>
                  <a:srgbClr val="3854CC"/>
                </a:solidFill>
                <a:latin typeface="Montserrat"/>
              </a:rPr>
              <a:t>PLANIFICAR — </a:t>
            </a:r>
            <a:r>
              <a:rPr sz="1150">
                <a:solidFill>
                  <a:srgbClr val="2B2C4A"/>
                </a:solidFill>
                <a:latin typeface="Montserrat"/>
              </a:rPr>
              <a:t>una entrevista familiar de Nivel 4 con acuerdos verificables para el síntoma, la escolaridad, la pareja y el embarazo.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92640" y="4295394"/>
            <a:ext cx="1691640" cy="310896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0" y="4295394"/>
            <a:ext cx="1691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CA2728"/>
                </a:solidFill>
                <a:latin typeface="Montserrat"/>
              </a:rPr>
              <a:t>APLICAR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5024628"/>
            <a:ext cx="10972800" cy="8915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4360" y="5024628"/>
            <a:ext cx="64008" cy="89154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2960" y="526923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26923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5116068"/>
            <a:ext cx="8092440" cy="7086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1">
                <a:solidFill>
                  <a:srgbClr val="3854CC"/>
                </a:solidFill>
                <a:latin typeface="Montserrat"/>
              </a:rPr>
              <a:t>ESTABLECER — </a:t>
            </a:r>
            <a:r>
              <a:rPr sz="1150">
                <a:solidFill>
                  <a:srgbClr val="2B2C4A"/>
                </a:solidFill>
                <a:latin typeface="Montserrat"/>
              </a:rPr>
              <a:t>un seguimiento quincenal y criterios de derivación a terapia familiar especializada.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92640" y="5314950"/>
            <a:ext cx="1691640" cy="310896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92640" y="5314950"/>
            <a:ext cx="1691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CA2728"/>
                </a:solidFill>
                <a:latin typeface="Montserrat"/>
              </a:rPr>
              <a:t>EVALUAR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Caso clínico guiado mediante pensamiento en voz alta y modelo sistémico.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CASO CLÍNICO · PREGUNTA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Sr. Prado, 42 años: síntoma y contexto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MEDICINA FAMILIAR Y COMUNITARIA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3108960" cy="788212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274320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MOTIVO DE CONSULTA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1417320"/>
            <a:ext cx="77724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39" y="1417320"/>
            <a:ext cx="740664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Consulta repetidamente por dolor torácico recurrente pese a seguir el tratamiento médico.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351836"/>
            <a:ext cx="3108960" cy="788212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51836"/>
            <a:ext cx="274320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PRUEBAS BASALES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4760" y="2351836"/>
            <a:ext cx="77724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7639" y="2351836"/>
            <a:ext cx="740664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Los estudios clínicos y complementarios disponibles se mantienen dentro de parámetros normales.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86353"/>
            <a:ext cx="3108960" cy="788212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286353"/>
            <a:ext cx="274320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CAMBIOS EN 6 MESES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3286353"/>
            <a:ext cx="77724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39" y="3286353"/>
            <a:ext cx="740664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La esposa trabaja fuera limpiando; el hijo de 17 años trabaja tras el colegio; la hija de 21 anunció embarazo y matrimonio.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220870"/>
            <a:ext cx="3108960" cy="788212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220870"/>
            <a:ext cx="274320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VIVENCIA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94760" y="4220870"/>
            <a:ext cx="77724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39" y="4220870"/>
            <a:ext cx="740664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Se siente solo, desatendido e irritable; interpreta el empleo de su esposa como falta de atención a su salud y al hogar.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5155387"/>
            <a:ext cx="3108960" cy="788212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155387"/>
            <a:ext cx="274320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HIPÓTESIS DE TRABAJO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94760" y="5155387"/>
            <a:ext cx="7772400" cy="7882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77639" y="5155387"/>
            <a:ext cx="7406640" cy="788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El estrés y la pérdida de control pueden expresarse somáticamente; explorar esta hipótesis sin convertirla en explicación única.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Las pruebas basales normales no eliminan el dolor ni cierran la valoración clínica.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PREGUNTA 2 · VISIÓN BIOPSICOSOCIAL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Cinco tensiones, un mismo sistema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MEDICINA FAMILIAR Y COMUNITARIA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04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6095390" y="1874519"/>
            <a:ext cx="0" cy="594360"/>
          </a:xfrm>
          <a:prstGeom prst="line">
            <a:avLst/>
          </a:prstGeom>
          <a:ln w="19050">
            <a:solidFill>
              <a:srgbClr val="D9DD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7313042" y="3138189"/>
            <a:ext cx="2173968" cy="362239"/>
          </a:xfrm>
          <a:prstGeom prst="line">
            <a:avLst/>
          </a:prstGeom>
          <a:ln w="19050">
            <a:solidFill>
              <a:srgbClr val="D9DD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103909" y="4415170"/>
            <a:ext cx="1087617" cy="767680"/>
          </a:xfrm>
          <a:prstGeom prst="line">
            <a:avLst/>
          </a:prstGeom>
          <a:ln w="19050">
            <a:solidFill>
              <a:srgbClr val="D9DD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3999254" y="4415170"/>
            <a:ext cx="1087616" cy="767680"/>
          </a:xfrm>
          <a:prstGeom prst="line">
            <a:avLst/>
          </a:prstGeom>
          <a:ln w="19050">
            <a:solidFill>
              <a:srgbClr val="D9DD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2703770" y="3138189"/>
            <a:ext cx="2173968" cy="362239"/>
          </a:xfrm>
          <a:prstGeom prst="line">
            <a:avLst/>
          </a:prstGeom>
          <a:ln w="19050">
            <a:solidFill>
              <a:srgbClr val="D9DD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952390" y="3246120"/>
            <a:ext cx="2286000" cy="914400"/>
          </a:xfrm>
          <a:prstGeom prst="roundRect">
            <a:avLst>
              <a:gd name="adj" fmla="val 12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43830" y="3246120"/>
            <a:ext cx="21031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Montserrat"/>
              </a:rPr>
              <a:t>Sistema familiar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52390" y="1394460"/>
            <a:ext cx="228600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89550" y="1467612"/>
            <a:ext cx="2011680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854CC"/>
                </a:solidFill>
                <a:latin typeface="Montserrat"/>
              </a:rPr>
              <a:t>Economía y trabajo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2B2C4A"/>
                </a:solidFill>
                <a:latin typeface="Montserrat"/>
              </a:rPr>
              <a:t>La esposa limpia fuera para aumentar ingresos; disminuye el tiempo compartido.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44010" y="2658129"/>
            <a:ext cx="228600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1170" y="2731281"/>
            <a:ext cx="2011680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854CC"/>
                </a:solidFill>
                <a:latin typeface="Montserrat"/>
              </a:rPr>
              <a:t>Rol del adolescente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2B2C4A"/>
                </a:solidFill>
                <a:latin typeface="Montserrat"/>
              </a:rPr>
              <a:t>El hijo de 17 trabaja tras el colegio y pone en riesgo sus estudios.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8526" y="4702790"/>
            <a:ext cx="228600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5686" y="4775942"/>
            <a:ext cx="2011680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854CC"/>
                </a:solidFill>
                <a:latin typeface="Montserrat"/>
              </a:rPr>
              <a:t>Ciclo vital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2B2C4A"/>
                </a:solidFill>
                <a:latin typeface="Montserrat"/>
              </a:rPr>
              <a:t>Embarazo y boda de la hija de 21 años generan incertidumbre familiar.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56254" y="4702790"/>
            <a:ext cx="228600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93414" y="4775942"/>
            <a:ext cx="2011680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854CC"/>
                </a:solidFill>
                <a:latin typeface="Montserrat"/>
              </a:rPr>
              <a:t>Vínculo conyugal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2B2C4A"/>
                </a:solidFill>
                <a:latin typeface="Montserrat"/>
              </a:rPr>
              <a:t>El trabajo se interpreta como desatención; surgen reproches y aislamiento.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60770" y="2658129"/>
            <a:ext cx="228600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97930" y="2731281"/>
            <a:ext cx="2011680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854CC"/>
                </a:solidFill>
                <a:latin typeface="Montserrat"/>
              </a:rPr>
              <a:t>Síntoma somático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2B2C4A"/>
                </a:solidFill>
                <a:latin typeface="Montserrat"/>
              </a:rPr>
              <a:t>Puede expresar angustia y pérdida de control; hipótesis por explorar.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El mapa plantea relaciones para explorar; no asigna culpas ni confirma una causa única.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LECTURA SISTÉMICA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Los cambios familiares se influyen entre sí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MEDICINA FAMILIAR Y COMUNITARIA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85435" y="1380744"/>
            <a:ext cx="7790649" cy="44165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aso4_red_famili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011" y="1417320"/>
            <a:ext cx="7717497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576072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 i="1">
                <a:solidFill>
                  <a:srgbClr val="2B2C4A"/>
                </a:solidFill>
                <a:latin typeface="Montserrat"/>
              </a:rPr>
              <a:t>El trabajo, la escolaridad y las transiciones vitales convergen en la vivencia de soledad del paciente.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Representación educativa del caso; no corresponde a una familia real.  •  Crédito: Ilustración original generada por IA para esta presentación.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PREGUNTA 2 · NIVELES DE INTERVENCIÓN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Por qué este caso requiere Nivel 4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MEDICINA FAMILIAR Y COMUNITARIA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463040"/>
          <a:ext cx="10972799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9428"/>
                <a:gridCol w="3265714"/>
                <a:gridCol w="5747657"/>
              </a:tblGrid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NIVEL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FOCO CLÍNICO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INTERVENCIÓN DEL MÉDICO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1–2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Evaluación biomédica y consejería preventiva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Evaluar el síntoma y orientar la prevención.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3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Contención emocional inmediata ante una crisis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Acompañar y contener la crisis actual.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4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Evaluación funcional e hipótesis sistémica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Convocar a la familia, observar interacciones y pactar acuerdos.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</a:tr>
              <a:tr h="7498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5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Terapia familiar especializada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Derivar ante persistencia, rigidez o patología grave.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4360" y="5394959"/>
            <a:ext cx="10972800" cy="530352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1143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440679"/>
            <a:ext cx="10515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 i="0">
                <a:solidFill>
                  <a:srgbClr val="3854CC"/>
                </a:solidFill>
                <a:latin typeface="Montserrat"/>
              </a:rPr>
              <a:t>CONCLUSIÓN EDITORIAL:  El Nivel 4 añade evaluación funcional e intervención planificada; no se limita a contener la crisis.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016752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En los niveles 1–2 predomina el foco biomédico y preventivo; el Nivel 5 requiere atención especializada.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NIVEL 4 · ENTREVISTA PLANIFICADA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La familia entra en la consulta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MEDICINA FAMILIAR Y COMUNITARIA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85435" y="1380744"/>
            <a:ext cx="7790649" cy="44165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ntrevista_familiar_planific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011" y="1417320"/>
            <a:ext cx="7717497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576072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 i="1">
                <a:solidFill>
                  <a:srgbClr val="2B2C4A"/>
                </a:solidFill>
                <a:latin typeface="Montserrat"/>
              </a:rPr>
              <a:t>La entrevista conjunta permite observar alianzas y reproches, y negociar cambios sin buscar culpables.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La imagen ilustra una entrevista docente, no una intervención ya realizada.  •  Crédito: Ilustración original generada por IA para esta presentación.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INTERVENCIÓN PLANIFICADA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De la hipótesis a un cambio observable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MEDICINA FAMILIAR Y COMUNITARIA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250317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58952" y="1673351"/>
            <a:ext cx="731520" cy="256032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73351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39112"/>
            <a:ext cx="213741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854CC"/>
                </a:solidFill>
                <a:latin typeface="Montserrat"/>
              </a:rPr>
              <a:t>Acordar el encuadre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Explicar que la consulta analizará el funcionamiento familiar, no quién tiene razón.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43249" y="3044952"/>
            <a:ext cx="228599" cy="219456"/>
          </a:xfrm>
          <a:prstGeom prst="rightArrow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17570" y="1508760"/>
            <a:ext cx="2503170" cy="329184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 w="1270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82162" y="1673351"/>
            <a:ext cx="731520" cy="256032"/>
          </a:xfrm>
          <a:prstGeom prst="roundRect">
            <a:avLst>
              <a:gd name="adj" fmla="val 8000"/>
            </a:avLst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2162" y="1673351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Montserrat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450" y="2039112"/>
            <a:ext cx="213741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Montserrat"/>
              </a:rPr>
              <a:t>Escuchar a todos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E0E4FF"/>
                </a:solidFill>
                <a:latin typeface="Montserrat"/>
              </a:rPr>
              <a:t>Reunir a la familia y conocer cómo interpreta cada persona los cambios.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66459" y="3044952"/>
            <a:ext cx="228599" cy="219456"/>
          </a:xfrm>
          <a:prstGeom prst="rightArrow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40780" y="1508760"/>
            <a:ext cx="250317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5372" y="1673351"/>
            <a:ext cx="731520" cy="256032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5372" y="1673351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3660" y="2039112"/>
            <a:ext cx="213741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854CC"/>
                </a:solidFill>
                <a:latin typeface="Montserrat"/>
              </a:rPr>
              <a:t>Observar patrones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Identificar interacciones, coaliciones dañinas y reproches que mantienen la tensión.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789670" y="3044952"/>
            <a:ext cx="228599" cy="219456"/>
          </a:xfrm>
          <a:prstGeom prst="rightArrow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63990" y="1508760"/>
            <a:ext cx="250317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28582" y="1673351"/>
            <a:ext cx="731520" cy="256032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28582" y="1673351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6869" y="2039112"/>
            <a:ext cx="213741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854CC"/>
                </a:solidFill>
                <a:latin typeface="Montserrat"/>
              </a:rPr>
              <a:t>Pactar acciones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Definir acuerdos concretos, responsabilidades y un momento de revisión.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5029200"/>
            <a:ext cx="10972800" cy="1005839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635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El médico convoca a toda la familia, observa cómo se relacionan y formula hipótesis funcionales. La meta es modificar patrones concretos, no decidir quién tiene razón.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089904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La intervención se centra en la función de las interacciones, no en encontrar culpables.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PREGUNTA 3 · ACUERDOS A CORTO PLAZO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Acuerdos funcionales, no culpables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MEDICINA FAMILIAR Y COMUNITARIA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32204"/>
            <a:ext cx="109728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924812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 w="15240">
            <a:solidFill>
              <a:srgbClr val="186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06524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186E48"/>
                </a:solidFill>
                <a:latin typeface="Montserra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705356"/>
            <a:ext cx="101955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Registrar el dolor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Anotar frecuencia, intensidad y estrés del día; revisar el patrón en consulta, no cada episodio de forma aislada.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692908"/>
            <a:ext cx="109728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2985515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 w="15240">
            <a:solidFill>
              <a:srgbClr val="186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67227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186E48"/>
                </a:solidFill>
                <a:latin typeface="Montserrat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766060"/>
            <a:ext cx="101955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Proteger la escuela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Priorizar la asistencia; limitar el trabajo del hijo a fines de semana o, como máximo, 2 horas diarias.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753611"/>
            <a:ext cx="109728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4046220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 w="15240">
            <a:solidFill>
              <a:srgbClr val="186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027931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186E48"/>
                </a:solidFill>
                <a:latin typeface="Montserrat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826763"/>
            <a:ext cx="101955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Cuidar la pareja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Fijar un diálogo diario sin reproches y redistribuir tareas según la capacidad del padre.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814316"/>
            <a:ext cx="109728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5106924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 w="15240">
            <a:solidFill>
              <a:srgbClr val="186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088636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186E48"/>
                </a:solidFill>
                <a:latin typeface="Montserrat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887468"/>
            <a:ext cx="101955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Apoyar el embarazo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Frenar los reproches cruzados y organizar una red de apoyo mutuo para la gestación.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Frenar la culpa cruzada: cuidados del padre y gastos del embarazo. El registro no reemplaza la atención si cambia el dolor.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PREGUNTA 4 · SEGUIMIENTO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Revisar acuerdos con indicadores concretos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MEDICINA FAMILIAR Y COMUNITARIA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4023360" cy="452628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4023360" cy="54864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5200" b="1" i="0">
                <a:solidFill>
                  <a:srgbClr val="FFFFFF"/>
                </a:solidFill>
                <a:latin typeface="Montserrat"/>
              </a:rPr>
              <a:t>15 días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400" y="3657600"/>
            <a:ext cx="1097280" cy="2286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886200"/>
            <a:ext cx="3566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entre consultas de seguimiento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1417320"/>
            <a:ext cx="6675120" cy="1386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92040" y="1417320"/>
            <a:ext cx="54864" cy="138684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527048"/>
            <a:ext cx="6263640" cy="1167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Dolor torácico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Medir intensidad y frecuencia para comprobar si disminuyen.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2987040"/>
            <a:ext cx="6675120" cy="1386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92040" y="2987040"/>
            <a:ext cx="54864" cy="138684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3096768"/>
            <a:ext cx="6263640" cy="1167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Asistencia escolar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Verificar la asistencia completa del hijo de 17 años.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4556760"/>
            <a:ext cx="6675120" cy="1386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92040" y="4556760"/>
            <a:ext cx="54864" cy="138684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0" y="4666488"/>
            <a:ext cx="6263640" cy="1167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Acuerdos de pareja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Revisar el diálogo cotidiano y la redistribución de tareas.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La revisión quincenal valora síntomas, escolaridad y convivencia; ajustar según la evolución clínica.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ESCALAMIENTO · NIVEL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Criterios de derivación especializada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MEDICINA FAMILIAR Y COMUNITARIA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62556"/>
            <a:ext cx="109728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455164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 w="15240">
            <a:solidFill>
              <a:srgbClr val="186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36876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186E48"/>
                </a:solidFill>
                <a:latin typeface="Montserra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235708"/>
            <a:ext cx="101955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Síntoma persistente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El dolor persiste o empeora pese a los acuerdos y al seguimiento planificado.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223260"/>
            <a:ext cx="109728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3515868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 w="15240">
            <a:solidFill>
              <a:srgbClr val="186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97580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186E48"/>
                </a:solidFill>
                <a:latin typeface="Montserrat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296412"/>
            <a:ext cx="101955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Dinámica familiar rígida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Fracasan repetidamente los acuerdos y continúan la culpabilización o las alianzas destructivas entre padres e hijos.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283964"/>
            <a:ext cx="109728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4576572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 w="15240">
            <a:solidFill>
              <a:srgbClr val="186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558284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186E48"/>
                </a:solidFill>
                <a:latin typeface="Montserrat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357116"/>
            <a:ext cx="101955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Patología grave o riesgo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Depresión mayor, ideación suicida o violencia intrafamiliar requieren derivación inmediata a terapia familiar y salud mental.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La ideación suicida o la violencia intrafamiliar no se aplazan a la revisión quincenal.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CIERRE CLÍNICO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Del síntoma al funcionamiento familiar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MEDICINA FAMILIAR Y COMUNITARIA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1097280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82296" cy="1325880"/>
          </a:xfrm>
          <a:prstGeom prst="rect">
            <a:avLst/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536192"/>
            <a:ext cx="1463040" cy="219456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3619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ENUNCIADO CENTRAL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10512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50" b="1" i="0">
                <a:solidFill>
                  <a:srgbClr val="3854CC"/>
                </a:solidFill>
                <a:latin typeface="Montserrat"/>
              </a:rPr>
              <a:t>En el Nivel 4, el dolor torácico conserva su importancia clínica y, a la vez, se examina en relación con los cambios y las interacciones familiares.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880360"/>
            <a:ext cx="10972800" cy="777240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508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90088"/>
            <a:ext cx="106070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 i="0">
                <a:solidFill>
                  <a:srgbClr val="2B2C4A"/>
                </a:solidFill>
                <a:latin typeface="Montserrat"/>
              </a:rPr>
              <a:t>La entrevista planificada transforma una hipótesis sistémica en acuerdos observables; el seguimiento indica si funcionan o si hace falta terapia familiar especializada.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794760"/>
            <a:ext cx="3523488" cy="22402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794760"/>
            <a:ext cx="3523488" cy="4572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59352"/>
            <a:ext cx="3157728" cy="1965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No buscar culpables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Frenar reproches y explorar cómo cada miembro interpreta los cambios.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9016" y="3794760"/>
            <a:ext cx="3523488" cy="22402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9016" y="3794760"/>
            <a:ext cx="3523488" cy="4572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1896" y="3959352"/>
            <a:ext cx="3157728" cy="1965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Proteger funciones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Cuidar salud, escolaridad, vínculo de pareja y apoyo a la gestación.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3672" y="3794760"/>
            <a:ext cx="3523488" cy="22402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3672" y="3794760"/>
            <a:ext cx="3523488" cy="4572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6551" y="3959352"/>
            <a:ext cx="3157728" cy="1965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Medir y escalar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Revisar dolor, asistencia y convivencia; derivar ante persistencia, rigidez o riesgo.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La hipótesis psicosomática se revisa junto con la evolución clínica.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