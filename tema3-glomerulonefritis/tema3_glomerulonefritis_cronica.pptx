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640080"/>
            <a:ext cx="10728655" cy="5577840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234440"/>
            <a:ext cx="99971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</a:rPr>
              <a:t>ANATOMÍA PATOLÓGICA · TEMA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920240"/>
            <a:ext cx="9997135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3800" b="1" i="0">
                <a:solidFill>
                  <a:srgbClr val="FFFFFF"/>
                </a:solidFill>
                <a:latin typeface="Montserrat"/>
              </a:rPr>
              <a:t>Glomerulonefritis crónica terminal: del daño inmunológico al riñón contraído</a:t>
            </a:r>
          </a:p>
        </p:txBody>
      </p:sp>
      <p:sp>
        <p:nvSpPr>
          <p:cNvPr id="8" name="Rectangle 7"/>
          <p:cNvSpPr/>
          <p:nvPr/>
        </p:nvSpPr>
        <p:spPr>
          <a:xfrm>
            <a:off x="5358384" y="4069080"/>
            <a:ext cx="146304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4343400"/>
            <a:ext cx="94484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500" b="0" i="1">
                <a:solidFill>
                  <a:srgbClr val="E0E4FF"/>
                </a:solidFill>
                <a:latin typeface="Montserrat"/>
              </a:rPr>
              <a:t>Discusión anatomoclínica, correlación fisiopatológica e integración histopatológica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349240"/>
            <a:ext cx="94484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000" b="1" i="0">
                <a:solidFill>
                  <a:srgbClr val="E0E4FF"/>
                </a:solidFill>
                <a:latin typeface="Montserrat"/>
              </a:rPr>
              <a:t>UCP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715000"/>
            <a:ext cx="94484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00" b="0" i="1">
                <a:solidFill>
                  <a:srgbClr val="FFFFFF"/>
                </a:solidFill>
                <a:latin typeface="Montserrat"/>
              </a:rPr>
              <a:t>Grupo 3 · Pregrado Médico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CASO CLÍNICO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Varón de 52 años con síndrome urémico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ANATOMÍA PATOLÓGICA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196596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54480"/>
            <a:ext cx="498347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ontserrat"/>
              </a:rPr>
              <a:t>VIÑETA CLÍNICA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10512"/>
            <a:ext cx="498347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FFFFFF"/>
                </a:solidFill>
                <a:latin typeface="Montserrat"/>
              </a:rPr>
              <a:t>Varón de 52 años, albañil, con cefalea persistente, fatiga incapacitante y edema progresivo en miembros inferiores. Ocho meses de astenia, náuseas matutinas, nicturia (3-4 por noche) y edema maleolar bilateral con prurito.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3520440"/>
            <a:ext cx="5349240" cy="2423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657600"/>
            <a:ext cx="498347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1" i="0">
                <a:solidFill>
                  <a:srgbClr val="CA2728"/>
                </a:solidFill>
                <a:latin typeface="Montserrat"/>
              </a:rPr>
              <a:t>HALLAZGOS CLÍNICOS &amp; PRUEBAS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• Hematuria macroscópica post-faringitis a los 26 años, sin estudio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• HTA desde los 47 años; la sobrecarga presora aceleró el colapso hemodinámico.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• No fumador ni antecedentes quirúrgicos previos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417320"/>
            <a:ext cx="5394960" cy="1965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554480"/>
            <a:ext cx="49377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A2728"/>
                </a:solidFill>
                <a:latin typeface="Montserrat"/>
              </a:rPr>
              <a:t>JUICIO DIAGNÓSTICO &amp; RAZONAMIENTO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El dato pivote es la hematuria juvenil post-faringitis, nunca biopsiada ni tratada: una glomerulopatía primaria no estudiada. La hipertensión secundaria aceleró el deterioro hasta la consulta en fase de falla orgánica descompensada.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520440"/>
            <a:ext cx="5394960" cy="1051560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1143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3611880"/>
            <a:ext cx="4937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B91C1C"/>
                </a:solidFill>
                <a:latin typeface="Montserrat"/>
              </a:rPr>
              <a:t>DIAGNÓSTICO DEFINITIVO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Síndrome urémico en ERC estadio 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4709160"/>
            <a:ext cx="5394960" cy="1234440"/>
          </a:xfrm>
          <a:prstGeom prst="roundRect">
            <a:avLst>
              <a:gd name="adj" fmla="val 4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4800600"/>
            <a:ext cx="49377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FFFFFF"/>
                </a:solidFill>
                <a:latin typeface="Montserrat"/>
              </a:rPr>
              <a:t>PERLA CLÍNICA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FFFFFF"/>
                </a:solidFill>
                <a:latin typeface="Montserrat"/>
              </a:rPr>
              <a:t>La hematuria post-faringitis recurrente amerita biopsia renal: el diagnóstico precoz habría evitado la fibrosis irreversible.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Evolución de 8 meses con pérdida de 4 kg y anorexia marcada.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FUNCIÓN RENAL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Estudios complementarios: uremia terminal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ANATOMÍA PATOLÓGICA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632204"/>
            <a:ext cx="68580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924812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06524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705356"/>
            <a:ext cx="60807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TFGe 11 mL/min/1,73 m²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ERC estadio 5 (terminal): urea 142 mg/dL y creatinina 5,8 mg/dL.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692908"/>
            <a:ext cx="68580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2985515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967227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766060"/>
            <a:ext cx="60807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Anemia normocítica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Hemoglobina 8,9 g/dL por déficit de eritropoyetina; calcio 7,8 y fósforo 6,4 mg/dL.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753611"/>
            <a:ext cx="68580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046220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027931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826763"/>
            <a:ext cx="60807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Sedimento de orina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Proteinuria 1,8 g/24 h con cilindros céreos anchos y hematíes dismórficos.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814316"/>
            <a:ext cx="68580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7240" y="5106924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088636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4887468"/>
            <a:ext cx="60807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Ecografía bilateral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Riñones simétricos de 7,5-7,8 cm, hiperecogénicos, con corteza &lt; 3 mm.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98664" y="2571542"/>
            <a:ext cx="4005072" cy="2217835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eco_rinon_contrai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608118"/>
            <a:ext cx="3931920" cy="2144683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Nefrectomía bilateral previa al trasplante; la pieza se envía a estudio histopatológico.  •  Crédito: Ilustración generada para esta presentación (esquema didáctico)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ESTUDIO MACROSCÓPICO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El riñón contraído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ANATOMÍA PATOLÓGICA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20651" y="1380744"/>
            <a:ext cx="5720217" cy="441655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cro_rinon_contraido_we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7227" y="1417320"/>
            <a:ext cx="5647065" cy="434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Superficie cortical finamente granular con regla métrica: la morfología macro del riñón contraído terminal.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Caso: 7,8 cm y 70 g frente a valores normales (12 cm y 120-150 g) — reducción simétrica que confirma la lesión crónica terminal.  •  Crédito: Wikimedia Commons — Gross pathology of nephrosclerosis (upload.wikimedia.org)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ESTUDIO MICROSCÓPICO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Esclerosis, atrofia y fibrosis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ANATOMÍA PATOLÓGICA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45498" y="1380744"/>
            <a:ext cx="8070523" cy="441655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icro_rinon_we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2074" y="1417320"/>
            <a:ext cx="7997371" cy="434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Fibrosis intersticial con atrofia tubular y glomérulo con esclerosis global: histología del estadio terminal.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Tinciones H&amp;E, PAS y tricrómico de Masson · &gt; 85% de glomérulos con esclerosis global.  •  Crédito: PathologyOutlines — Interstitial fibrosis and tubular atrophy (pathologyoutlines.com)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FISIOPATOLOGÍA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Hiperfiltración de Brenner: vía final común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ANATOMÍA PATOLÓGICA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5895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Injuria inmunológica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Los depósitos inmunes de la juventud destruyen nefronas; la inflamación primaria cede sin control etiológico.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143249" y="3044952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1757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8216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216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450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Sobrecarga adaptativa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Las nefronas residuales hipertrofian y dilatan la arteriola aferente para sostener la filtración global.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66459" y="3044952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4078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 w="1270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537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537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3660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Montserrat"/>
              </a:rPr>
              <a:t>Barotrauma glomerular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E0E4FF"/>
                </a:solidFill>
                <a:latin typeface="Montserrat"/>
              </a:rPr>
              <a:t>La hipertensión intraglomerular crónica daña podocitos y endotelio por estrés mecánico sostenido.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789670" y="3044952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06399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22858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2858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46869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Fibrosis terminal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TGF-β y endotelina-1 inducen matriz colágena descontrolada; la isquemia posglomerular atrofia los túbulos.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5029200"/>
            <a:ext cx="10972800" cy="1005839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635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120640"/>
            <a:ext cx="10515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La glomerulonefritis crónica es el punto terminal convergente de glomerulopatías primarias no resueltas: la pérdida crítica de masa nefronal desencadena hiperfiltración compensatoria, hipertensión intraglomerular y fibrosis irreversible.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6089904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Modelo de Brenner de progresión renal · &gt; 85% de obsolescencia glomerular en la pieza.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CORRELACIÓN CLÍNICO-PATOLÓGICA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Del sustrato tisular a la clínica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ANATOMÍA PATOLÓGICA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76672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17320"/>
            <a:ext cx="5376672" cy="438912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481328"/>
            <a:ext cx="49194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1" i="0">
                <a:solidFill>
                  <a:srgbClr val="FFFFFF"/>
                </a:solidFill>
                <a:latin typeface="Montserrat"/>
              </a:rPr>
              <a:t>HISTOPATOLOGÍA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965960"/>
            <a:ext cx="49194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500" b="1" i="0">
                <a:solidFill>
                  <a:srgbClr val="3854CC"/>
                </a:solidFill>
                <a:latin typeface="Montserrat"/>
              </a:rPr>
              <a:t>Sustrato tisular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14600"/>
            <a:ext cx="4919472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Obsolescencia glomerular global: &gt; 85% de penachos en esferas hialinas acelulares.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Fibrosis intersticial masiva con pérdida de células productoras de eritropoyetina.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La arteriolosclerosis hialina estrecha la luz vascular; determina isquemia posglomerular y liberación desregulada de renina.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Atrofia tubular con tiroidización y pérdida del gradiente osmótico medular.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0488" y="1417320"/>
            <a:ext cx="5376672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0488" y="1417320"/>
            <a:ext cx="5376672" cy="43891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1481328"/>
            <a:ext cx="49194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1" i="0">
                <a:solidFill>
                  <a:srgbClr val="FFFFFF"/>
                </a:solidFill>
                <a:latin typeface="Montserrat"/>
              </a:rPr>
              <a:t>MANIFESTACIÓN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1965960"/>
            <a:ext cx="49194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500" b="1" i="0">
                <a:solidFill>
                  <a:srgbClr val="3854CC"/>
                </a:solidFill>
                <a:latin typeface="Montserrat"/>
              </a:rPr>
              <a:t>Expresión clínica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514600"/>
            <a:ext cx="4919472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Retención de urea (142 mg/dL) y creatinina (5,8 mg/dL): náuseas, astenia y prurito.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Anemia normocítica normocrómica Hb 8,9 g/dL por déficit de eritropoyetina.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Eje renina-angiotensina-aldosterona hiperactivado: hipertensión y edemas maleolares.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Isostenuria por pérdida del gradiente medular: nicturia de 3-4 episodios por noche.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Cada línea del informe anatomopatológico explica un rasgo clínico del paciente.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DIAGNÓSTICO DIFERENCIAL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Riñón terminal: cuatro entidades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ANATOMÍA PATOLÓGICA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463040"/>
          <a:ext cx="10972799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5566"/>
                <a:gridCol w="2194560"/>
                <a:gridCol w="3349591"/>
                <a:gridCol w="3003082"/>
              </a:tblGrid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ENTIDAD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TAMAÑO RENAL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HALLAZGO DECISIVO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DATO CLAVE DE LA HISTORIA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Glomerulonefritis crónica (caso)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Pequeños y simétricos (7,8 cm)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Esclerosis glomerular global masiva (&gt; 85%) y superficie finamente granular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Hematuria macroscópica post-faringitis a los 26 años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Nefroesclerosis hipertensiva benigna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Simétricos, menos atróficos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Hialinosis arteriolar concéntrica predominante; esclerosis glomerular secundaria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Sin antecedentes de síndrome nefrítico juvenil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Pielonefritis crónica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Asimétricos con retracciones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Cicatrices corticales en U y cálices deformados (cáliz en clava)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Antecedentes de litiasis o reflujo vesicoureteral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7498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Nefropatía diabética avanzada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Normales o aumentados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Nódulos de Kimmelstiel-Wilson PAS-positivos en el penacho capilar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Diabetes mellitus de larga evolución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94360" y="5394959"/>
            <a:ext cx="10972800" cy="530352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1143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440679"/>
            <a:ext cx="10515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CONCLUSIÓN EDITORIAL:  La atrofia simétrica con esclerosis glomerular global y el antecedente nefrítico juvenil definen el caso.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DIAGNÓSTICO DEFINITIVO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Glomerulonefritis crónica terminal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ANATOMÍA PATOLÓGICA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5710" y="4187952"/>
            <a:ext cx="2499359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74310" y="4187952"/>
            <a:ext cx="2042159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Terapia sustitutiva renal urgente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73030" y="4187952"/>
            <a:ext cx="14630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 i="0">
                <a:solidFill>
                  <a:srgbClr val="606383"/>
                </a:solidFill>
                <a:latin typeface="Montserrat"/>
              </a:rPr>
              <a:t>Hemodiálisis trisemanal o diálisis peritoneal inmediata.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96030" y="3246120"/>
            <a:ext cx="4998719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24630" y="3246120"/>
            <a:ext cx="4541519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Control integral del riesgo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73030" y="3246120"/>
            <a:ext cx="14630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 i="0">
                <a:solidFill>
                  <a:srgbClr val="606383"/>
                </a:solidFill>
                <a:latin typeface="Montserrat"/>
              </a:rPr>
              <a:t>Tensión arterial estricta, quelantes de fósforo y análogos de eritropoyetina.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46350" y="2304288"/>
            <a:ext cx="7498079" cy="86868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 w="1016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74950" y="2304288"/>
            <a:ext cx="7040879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</a:rPr>
              <a:t>Trasplante renal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73030" y="2304288"/>
            <a:ext cx="14630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 i="0">
                <a:solidFill>
                  <a:srgbClr val="606383"/>
                </a:solidFill>
                <a:latin typeface="Montserrat"/>
              </a:rPr>
              <a:t>Única terapéutica curativa definitiva.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ERC G5 irreversible: &gt; 85% de obsolescencia glomerular contraindica la inmunosupresión e impone terapia de sustitución renal inmediata.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CONCLUSIONES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Lo que este caso enseña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ANATOMÍA PATOLÓGICA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10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6095390" y="1874519"/>
            <a:ext cx="0" cy="594360"/>
          </a:xfrm>
          <a:prstGeom prst="line">
            <a:avLst/>
          </a:prstGeom>
          <a:ln w="19050">
            <a:solidFill>
              <a:srgbClr val="D9D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329830" y="3703320"/>
            <a:ext cx="2331720" cy="0"/>
          </a:xfrm>
          <a:prstGeom prst="line">
            <a:avLst/>
          </a:prstGeom>
          <a:ln w="19050">
            <a:solidFill>
              <a:srgbClr val="D9D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390" y="4937760"/>
            <a:ext cx="0" cy="594360"/>
          </a:xfrm>
          <a:prstGeom prst="line">
            <a:avLst/>
          </a:prstGeom>
          <a:ln w="19050">
            <a:solidFill>
              <a:srgbClr val="D9D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2529230" y="3703320"/>
            <a:ext cx="2331720" cy="0"/>
          </a:xfrm>
          <a:prstGeom prst="line">
            <a:avLst/>
          </a:prstGeom>
          <a:ln w="19050">
            <a:solidFill>
              <a:srgbClr val="D9D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952390" y="3246120"/>
            <a:ext cx="2286000" cy="914400"/>
          </a:xfrm>
          <a:prstGeom prst="roundRect">
            <a:avLst>
              <a:gd name="adj" fmla="val 12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43830" y="3246120"/>
            <a:ext cx="21031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Montserrat"/>
              </a:rPr>
              <a:t>Riñón contraído terminal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52390" y="1394460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89550" y="1467612"/>
            <a:ext cx="2011680" cy="813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Morfología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Riñón pálido, simétrico y finamente granular: 7,8 cm y 70 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18550" y="3223260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55710" y="3296412"/>
            <a:ext cx="2011680" cy="813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Tríada histológica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Esclerosis global + atrofia con tiroidización + fibrosis colágena.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52390" y="5052059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89550" y="5125212"/>
            <a:ext cx="2011680" cy="813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Hiperfiltración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Pérdida de nefronas, hipertensión intraglomerular y fibrosis por TGF-β.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86230" y="3223260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23390" y="3296412"/>
            <a:ext cx="2011680" cy="813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Ventana terapéutica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Tratar la glomerulopatía antes de la fibrosis irreversible.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Diagnóstico precoz: la única estrategia que evita la dependencia de diálisis.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