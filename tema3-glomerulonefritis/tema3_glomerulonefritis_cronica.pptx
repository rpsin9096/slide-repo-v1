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ANATOMÍA PATOLÓGICA · TEMA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Glomerulonefritis crónica terminal: del daño inmunológico al riñón contraído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Discusión anatomoclínica, correlación fisiopatológica e integración histopatológica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49240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E0E4FF"/>
                </a:solidFill>
                <a:latin typeface="Montserrat"/>
              </a:rPr>
              <a:t>UCP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715000"/>
            <a:ext cx="9448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 i="1">
                <a:solidFill>
                  <a:srgbClr val="FFFFFF"/>
                </a:solidFill>
                <a:latin typeface="Montserrat"/>
              </a:rPr>
              <a:t>Grupo 3 · Pregrado Médico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ANAMNESIS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Veintiséis años de historia natural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657600"/>
            <a:ext cx="10378440" cy="3200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184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25268" y="3534156"/>
            <a:ext cx="237744" cy="237744"/>
          </a:xfrm>
          <a:prstGeom prst="ellipse">
            <a:avLst/>
          </a:prstGeom>
          <a:noFill/>
          <a:ln w="1905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3499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55420" y="1687067"/>
            <a:ext cx="2377440" cy="17419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55420" y="1687067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92579" y="1824227"/>
            <a:ext cx="2103120" cy="14676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26 años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Brote nefrítico inicial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2B2C4A"/>
                </a:solidFill>
                <a:latin typeface="Montserrat"/>
              </a:rPr>
              <a:t>Hematuria macroscópica post-faringitis repetida; nunca biopsiada ni tratada.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132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4476" y="3758184"/>
            <a:ext cx="18288" cy="128015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914900" y="3886200"/>
            <a:ext cx="2377440" cy="17419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14900" y="3886200"/>
            <a:ext cx="2377440" cy="4572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52060" y="4023360"/>
            <a:ext cx="2103120" cy="14676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47 años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Hipertensión arterial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2B2C4A"/>
                </a:solidFill>
                <a:latin typeface="Montserrat"/>
              </a:rPr>
              <a:t>Pauta irregular desde hace 5 años; la sobrecarga presora aceleró el colapso hemodinámico de las nefronas.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80803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5395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74379" y="1687067"/>
            <a:ext cx="2377440" cy="17419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74379" y="1687067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11539" y="1824227"/>
            <a:ext cx="2103120" cy="14676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52 años (actual)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Síndrome urémico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2B2C4A"/>
                </a:solidFill>
                <a:latin typeface="Montserrat"/>
              </a:rPr>
              <a:t>Astenia, náuseas matutinas, prurito, nicturia y edemas en miembros inferiores.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Varón de 52 años, albañil, con 8 meses de evolución y pérdida de 4 kg no voluntaria.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FUNCIÓN RENAL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Estudios complementarios: uremia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32204"/>
            <a:ext cx="68580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924812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06524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705356"/>
            <a:ext cx="6080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TFGe 11 mL/min/1,73 m²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ERC estadio 5 (terminal): urea 142 mg/dL y creatinina 5,8 mg/dL.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692908"/>
            <a:ext cx="68580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985515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67227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66060"/>
            <a:ext cx="6080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Anemia normocítica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Hemoglobina 8,9 g/dL por déficit de eritropoyetina; calcio 7,8 y fósforo 6,4 mg/dL.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753611"/>
            <a:ext cx="68580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046220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27931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26763"/>
            <a:ext cx="6080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Sedimento de orina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Proteinuria 1,8 g/24 h con cilindros céreos anchos y hematíes dismórficos.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814316"/>
            <a:ext cx="6858000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5106924"/>
            <a:ext cx="329184" cy="329184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 w="15240">
            <a:solidFill>
              <a:srgbClr val="186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88636"/>
            <a:ext cx="32918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400" b="1" i="0">
                <a:solidFill>
                  <a:srgbClr val="186E48"/>
                </a:solidFill>
                <a:latin typeface="Montserra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887468"/>
            <a:ext cx="60807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Ecografía bilateral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2B2C4A"/>
                </a:solidFill>
                <a:latin typeface="Montserrat"/>
              </a:rPr>
              <a:t>Riñones simétricos de 7,5-7,8 cm, hiperecogénicos, con corteza &lt; 3 mm.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98664" y="2571542"/>
            <a:ext cx="4005072" cy="221783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eco_rinon_contra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608118"/>
            <a:ext cx="3931920" cy="214468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Nefrectomía bilateral previa al trasplante; la pieza se envía a estudio histopatológico.  •  Crédito: Ilustración generada para esta presentación (esquema didáctico)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ESTUDIO MACROSCÓPICO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El riñón contraído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62734" y="1380744"/>
            <a:ext cx="8036051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cro_rinon_contra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9310" y="1417320"/>
            <a:ext cx="7962899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Corte coronal: superficie finamente granular, corteza de 2-3 mm y vasos arcuatos rígidos entreabiertos.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Caso: 7,8 cm y 70 g frente a valores normales (12 cm y 120-150 g) — reducción simétrica que confirma la lesión crónica terminal.  •  Crédito: Ilustración generada para esta presentación (esquema didáctico)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ESTUDIO MICROSCÓPICO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Esclerosis, atrofia y fibrosis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62734" y="1380744"/>
            <a:ext cx="8036051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icro_panel_tri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9310" y="1417320"/>
            <a:ext cx="7962899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Tríada de la etapa terminal: obsolescencia glomerular, fibrosis intersticial masiva y tiroidización tubular.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Tinciones H&amp;E, PAS y tricrómico de Masson · &gt; 85% de glomérulos con esclerosis global.  •  Crédito: Ilustración generada para esta presentación (esquema didáctico)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FISIOPATOLOGÍA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Hiperfiltración de Brenner: vía final común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Injuria inmunológica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Los depósitos inmunes de la juventud destruyen nefronas; la inflamación primaria cede sin control etiológico.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Sobrecarga adaptativa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Las nefronas residuales hipertrofian y dilatan la arteriola aferente para sostener la filtración global.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Barotrauma glomerular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La hipertensión intraglomerular crónica daña podocitos y endotelio por estrés mecánico sostenido.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Fibrosis terminal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TGF-β y endotelina-1 inducen matriz colágena descontrolada; la isquemia posglomerular atrofia los túbulos.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29200"/>
            <a:ext cx="10972800" cy="1005839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635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La glomerulonefritis crónica es el punto terminal convergente de glomerulopatías primarias no resueltas: la pérdida crítica de masa nefronal desencadena hiperfiltración compensatoria, hipertensión intraglomerular y fibrosis irreversible.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089904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Modelo de Brenner de progresión renal · &gt; 85% de obsolescencia glomerular en la pieza.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CORRELACIÓN CLÍNICO-PATOLÓGICA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Del sustrato tisular a la clínica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5376672" cy="438912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HISTOPATOLOGÍA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Sustrato tisular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Obsolescencia glomerular global: &gt; 85% de penachos en esferas hialinas acelulares.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Fibrosis intersticial masiva con pérdida de células productoras de eritropoyetina.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La arteriolosclerosis hialina estrecha la luz vascular; determina isquemia posglomerular y liberación desregulada de renina.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Atrofia tubular con tiroidización y pérdida del gradiente osmótico medular.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417320"/>
            <a:ext cx="5376672" cy="43891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MANIFESTACIÓN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Expresión clínica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Retención de urea (142 mg/dL) y creatinina (5,8 mg/dL): náuseas, astenia y prurito.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Anemia normocítica normocrómica Hb 8,9 g/dL por déficit de eritropoyetina.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Eje renina-angiotensina-aldosterona hiperactivado: hipertensión y edemas maleolares.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Isostenuria por pérdida del gradiente medular: nicturia de 3-4 episodios por noche.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Cada línea del informe anatomopatológico explica un rasgo clínico del paciente.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DIAGNÓSTICO DIFERENCIAL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Riñón terminal: cuatro entidades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566"/>
                <a:gridCol w="2194560"/>
                <a:gridCol w="3349591"/>
                <a:gridCol w="3003082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ENTIDAD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TAMAÑO RENAL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 DECISIVO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DATO CLAVE DE LA HISTORIA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Glomerulonefritis crónica (caso)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Pequeños y simétricos (7,8 cm)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Esclerosis glomerular global masiva (&gt; 85%) y superficie finamente granular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Hematuria macroscópica post-faringitis a los 26 años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Nefroesclerosis hipertensiva benigna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Simétricos, menos atróficos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Hialinosis arteriolar concéntrica predominante; esclerosis glomerular secundaria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Sin antecedentes de síndrome nefrítico juvenil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Pielonefritis crónica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Asimétricos con retracciones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Cicatrices corticales en U y cálices deformados (cáliz en clava)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Antecedentes de litiasis o reflujo vesicoureteral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Nefropatía diabética avanzada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Normales o aumentados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Nódulos de Kimmelstiel-Wilson PAS-positivos en el penacho capilar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Diabetes mellitus de larga evolución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La atrofia simétrica con esclerosis glomerular global y el antecedente nefrítico juvenil definen el caso.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DIAGNÓSTICO DEFINITIVO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Glomerulonefritis crónica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5710" y="4187952"/>
            <a:ext cx="2499359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4310" y="4187952"/>
            <a:ext cx="204215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Terapia sustitutiva renal urgente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3030" y="4187952"/>
            <a:ext cx="1463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606383"/>
                </a:solidFill>
                <a:latin typeface="Montserrat"/>
              </a:rPr>
              <a:t>Hemodiálisis trisemanal o diálisis peritoneal inmediata.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96030" y="3246120"/>
            <a:ext cx="4998719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24630" y="3246120"/>
            <a:ext cx="454151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Control integral del riesgo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73030" y="3246120"/>
            <a:ext cx="1463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606383"/>
                </a:solidFill>
                <a:latin typeface="Montserrat"/>
              </a:rPr>
              <a:t>Tensión arterial estricta, quelantes de fósforo y análogos de eritropoyetina.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46350" y="2304288"/>
            <a:ext cx="7498079" cy="86868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016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74950" y="2304288"/>
            <a:ext cx="7040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Trasplante renal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73030" y="2304288"/>
            <a:ext cx="1463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606383"/>
                </a:solidFill>
                <a:latin typeface="Montserrat"/>
              </a:rPr>
              <a:t>Única terapéutica curativa definitiva.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ERC G5 irreversible: &gt; 85% de obsolescencia glomerular contraindica la inmunosupresión e impone terapia de sustitución renal inmediata.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Lo que este caso enseña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6095390" y="1874519"/>
            <a:ext cx="0" cy="59436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329830" y="3703320"/>
            <a:ext cx="2331720" cy="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390" y="4937760"/>
            <a:ext cx="0" cy="59436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2529230" y="3703320"/>
            <a:ext cx="2331720" cy="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952390" y="32461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3830" y="3246120"/>
            <a:ext cx="21031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ontserrat"/>
              </a:rPr>
              <a:t>Riñón contraído terminal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2390" y="13944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9550" y="14676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Morfología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Riñón pálido, simétrico y finamente granular: 7,8 cm y 70 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18550" y="32232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55710" y="32964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Tríada histológica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Esclerosis global + atrofia con tiroidización + fibrosis colágena.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52390" y="5052059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89550" y="51252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Hiperfiltración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Pérdida de nefronas, hipertensión intraglomerular y fibrosis por TGF-β.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86230" y="32232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23390" y="32964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Ventana terapéutica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Tratar la glomerulopatía antes de la fibrosis irreversible.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Diagnóstico precoz: la única estrategia que evita la dependencia de diálisis.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