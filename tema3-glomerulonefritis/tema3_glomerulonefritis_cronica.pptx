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10728655" cy="557784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234440"/>
            <a:ext cx="9997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ANATOMÍA PATOLÓGICA · TEMA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9997135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3800" b="1" i="0">
                <a:solidFill>
                  <a:srgbClr val="FFFFFF"/>
                </a:solidFill>
                <a:latin typeface="Montserrat"/>
              </a:rPr>
              <a:t>Glomerulonefritis crónica terminal: del daño inmunológico al riñón contraído</a:t>
            </a:r>
          </a:p>
        </p:txBody>
      </p:sp>
      <p:sp>
        <p:nvSpPr>
          <p:cNvPr id="8" name="Rectangle 7"/>
          <p:cNvSpPr/>
          <p:nvPr/>
        </p:nvSpPr>
        <p:spPr>
          <a:xfrm>
            <a:off x="5358384" y="4069080"/>
            <a:ext cx="146304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343400"/>
            <a:ext cx="94484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500" b="0" i="1">
                <a:solidFill>
                  <a:srgbClr val="E0E4FF"/>
                </a:solidFill>
                <a:latin typeface="Montserrat"/>
              </a:rPr>
              <a:t>Discusión anatomoclínica, correlación fisiopatológica e integración histopatológica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49240"/>
            <a:ext cx="94484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000" b="1" i="0">
                <a:solidFill>
                  <a:srgbClr val="E0E4FF"/>
                </a:solidFill>
                <a:latin typeface="Montserrat"/>
              </a:rPr>
              <a:t>UCP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15000"/>
            <a:ext cx="94484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 i="1">
                <a:solidFill>
                  <a:srgbClr val="FFFFFF"/>
                </a:solidFill>
                <a:latin typeface="Montserrat"/>
              </a:rPr>
              <a:t>Grupo 3 · Pregrado Médico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ANAMNESIS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Veintiséis años de historia natural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657600"/>
            <a:ext cx="10378440" cy="3200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6184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525268" y="3534156"/>
            <a:ext cx="237744" cy="237744"/>
          </a:xfrm>
          <a:prstGeom prst="ellipse">
            <a:avLst/>
          </a:prstGeom>
          <a:noFill/>
          <a:ln w="1905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499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55420" y="1687067"/>
            <a:ext cx="2377440" cy="17419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420" y="1687067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92579" y="1824227"/>
            <a:ext cx="2103120" cy="1467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26 años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Brote nefrítico inicial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Hematuria macroscópica post-faringitis repetida; nunca biopsiada ni tratada.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1324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4476" y="3758184"/>
            <a:ext cx="18288" cy="128015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914900" y="3886200"/>
            <a:ext cx="2377440" cy="17419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14900" y="3886200"/>
            <a:ext cx="2377440" cy="45720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52060" y="4023360"/>
            <a:ext cx="2103120" cy="1467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47 años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Hipertensión arterial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Diagnosticada hace 5 años con apego terapéutico irregular; acelera el daño hemodinámico.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80803" y="358902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53956" y="3429000"/>
            <a:ext cx="18288" cy="14630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74379" y="1687067"/>
            <a:ext cx="2377440" cy="17419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74379" y="1687067"/>
            <a:ext cx="2377440" cy="4572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1539" y="1824227"/>
            <a:ext cx="2103120" cy="14676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52 años (actual)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Síndrome urémico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19" b="0" i="0">
                <a:solidFill>
                  <a:srgbClr val="2B2C4A"/>
                </a:solidFill>
                <a:latin typeface="Montserrat"/>
              </a:rPr>
              <a:t>Astenia, náuseas matutinas, prurito, nicturia y edemas en miembros inferiores.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Varón de 52 años, albañil, con 8 meses de evolución y pérdida de 4 kg no voluntaria.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FUNCIÓN RENAL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Estudios complementarios: uremia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4023360" cy="45262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4023360" cy="54864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5200" b="1" i="0">
                <a:solidFill>
                  <a:srgbClr val="FFFFFF"/>
                </a:solidFill>
                <a:latin typeface="Montserrat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57400" y="3657600"/>
            <a:ext cx="1097280" cy="2286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35661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350" b="0" i="0">
                <a:solidFill>
                  <a:srgbClr val="FFFFFF"/>
                </a:solidFill>
                <a:latin typeface="Montserrat"/>
              </a:rPr>
              <a:t>mL/min/1,73 m² de TFGe — ERC estadio 5 (terminal)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886200" y="1417320"/>
            <a:ext cx="329184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86200" y="141732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527048"/>
            <a:ext cx="288036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Bioquímica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Urea 142 mg/dL y creatinina 5,8 mg/dL; calcio 7,8 mg/dL y fósforo 6,4 mg/dL.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2987040"/>
            <a:ext cx="329184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86200" y="298704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3096768"/>
            <a:ext cx="288036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Hemograma y orina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Hemoglobina 8,9 g/dL (anemia normocítica normocrómica); proteinuria 1,8 g/24 h con cilindros céreos anchos.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86200" y="4556760"/>
            <a:ext cx="3291840" cy="1386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86200" y="4556760"/>
            <a:ext cx="54864" cy="1386840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0" y="4666488"/>
            <a:ext cx="2880360" cy="1167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3854CC"/>
                </a:solidFill>
                <a:latin typeface="Montserrat"/>
              </a:rPr>
              <a:t>Ecografía bilateral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Riñones simétricos de 7,5-7,8 cm, hiperecogénicos, con corteza &lt; 3 mm y pérdida corticomedular.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4344" y="2496727"/>
            <a:ext cx="4279392" cy="236746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co_rinon_contra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2533303"/>
            <a:ext cx="4206240" cy="22943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Nefrectomía bilateral previa al trasplante; la pieza se envía a estudio histopatológico.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MACROSCÓPICO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El riñón contraído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62734" y="1380744"/>
            <a:ext cx="8036051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cro_rinon_contra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310" y="1417320"/>
            <a:ext cx="7962899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Corte coronal: superficie finamente granular, corteza de 2-3 mm y vasos arcuatos rígidos entreabiertos.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Caso: 7,8 cm y 70 g · Normal: 12 cm y 120-150 g — atrofia simétrica severa.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ESTUDIO MICROSCÓPICO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Esclerosis, atrofia y fibrosis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62734" y="1380744"/>
            <a:ext cx="8036051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icro_panel_tri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9310" y="1417320"/>
            <a:ext cx="7962899" cy="4343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57607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0" i="1">
                <a:solidFill>
                  <a:srgbClr val="2B2C4A"/>
                </a:solidFill>
                <a:latin typeface="Montserrat"/>
              </a:rPr>
              <a:t>Tríada de la etapa terminal: obsolescencia glomerular, fibrosis intersticial masiva y tiroidización tubular.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Tinciones H&amp;E, PAS y tricrómico de Masson · &gt; 85% de glomérulos con esclerosis global.  •  Crédito: Ilustración generada para esta presentación (esquema didáctico)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FISIOPATOLOGÍA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Hiperfiltración de Brenner: vía final común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5895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Injuria inmunológica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Los depósitos inmunes de la juventud destruyen nefronas; la inflamación primaria cede sin control etiológico.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4324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1757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216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216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045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Sobrecarga adaptativa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Las nefronas residuales hipertrofian y dilatan la arteriola aferente para sostener la filtración global.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6459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4078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270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537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537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3660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Montserrat"/>
              </a:rPr>
              <a:t>Barotrauma glomerular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E0E4FF"/>
                </a:solidFill>
                <a:latin typeface="Montserrat"/>
              </a:rPr>
              <a:t>La hipertensión intraglomerular crónica daña podocitos y endotelio por estrés mecánico sostenido.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789670" y="3044952"/>
            <a:ext cx="228599" cy="219456"/>
          </a:xfrm>
          <a:prstGeom prst="rightArrow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63990" y="1508760"/>
            <a:ext cx="2503170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28582" y="1673351"/>
            <a:ext cx="731520" cy="256032"/>
          </a:xfrm>
          <a:prstGeom prst="roundRect">
            <a:avLst>
              <a:gd name="adj" fmla="val 8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8582" y="1673351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3854CC"/>
                </a:solidFill>
                <a:latin typeface="Montserrat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46869" y="2039112"/>
            <a:ext cx="213741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3854CC"/>
                </a:solidFill>
                <a:latin typeface="Montserrat"/>
              </a:rPr>
              <a:t>Fibrosis terminal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B2C4A"/>
                </a:solidFill>
                <a:latin typeface="Montserrat"/>
              </a:rPr>
              <a:t>TGF-β y endotelina-1 inducen matriz colágena descontrolada; la isquemia posglomerular atrofia los túbulos.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029200"/>
            <a:ext cx="10972800" cy="1005839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635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0" i="0">
                <a:solidFill>
                  <a:srgbClr val="2B2C4A"/>
                </a:solidFill>
                <a:latin typeface="Montserrat"/>
              </a:rPr>
              <a:t>La glomerulonefritis crónica es el punto terminal convergente de glomerulopatías primarias no resueltas: la pérdida crítica de masa nefronal desencadena hiperfiltración compensatoria, hipertensión intraglomerular y fibrosis irreversible.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089904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Modelo de Brenner de progresión renal · &gt; 85% de obsolescencia glomerular en la pieza.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CORRELACIÓN CLÍNICO-PATOLÓGICA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Del sustrato tisular a la clínica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417320"/>
            <a:ext cx="5376672" cy="438912"/>
          </a:xfrm>
          <a:prstGeom prst="rect">
            <a:avLst/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HISTOPATOLOGÍA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Sustrato tisular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Obsolescencia glomerular global: &gt; 85% de penachos en esferas hialinas acelulares.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Fibrosis intersticial masiva con pérdida de células productoras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Isquemia arteriolar con arterioloesclerosis hialina e hipertensión intraglomerular.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Atrofia tubular con tiroidización y pérdida del gradiente osmótico medular.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417320"/>
            <a:ext cx="5376672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417320"/>
            <a:ext cx="5376672" cy="43891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481328"/>
            <a:ext cx="49194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050" b="1" i="0">
                <a:solidFill>
                  <a:srgbClr val="FFFFFF"/>
                </a:solidFill>
                <a:latin typeface="Montserrat"/>
              </a:rPr>
              <a:t>MANIFESTACIÓN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965960"/>
            <a:ext cx="49194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500" b="1" i="0">
                <a:solidFill>
                  <a:srgbClr val="3854CC"/>
                </a:solidFill>
                <a:latin typeface="Montserrat"/>
              </a:rPr>
              <a:t>Expresión clínica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514600"/>
            <a:ext cx="4919472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Retención de urea (142 mg/dL) y creatinina (5,8 mg/dL): náuseas, astenia y prurito.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Anemia normocítica normocrómica Hb 8,9 g/dL por déficit de eritropoyetina.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Eje renina-angiotensina-aldosterona hiperactivado: hipertensión y edemas maleolares.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120" b="0" i="0">
                <a:solidFill>
                  <a:srgbClr val="2B2C4A"/>
                </a:solidFill>
                <a:latin typeface="Montserrat"/>
              </a:rPr>
              <a:t>• Isostenuria por pérdida del gradiente medular: nicturia de 3-4 episodios por noche.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Cada línea del informe anatomopatológico explica un rasgo clínico del paciente.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DIFERENCIAL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Riñón terminal: cuatro entidades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94360" y="1463040"/>
          <a:ext cx="10972799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566"/>
                <a:gridCol w="2194560"/>
                <a:gridCol w="3349591"/>
                <a:gridCol w="3003082"/>
              </a:tblGrid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ENTIDAD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TAMAÑO RENAL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HALLAZGO DECISIVO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Montserrat"/>
                        </a:rPr>
                        <a:t>DATO CLAVE DE LA HISTORIA</a:t>
                      </a:r>
                    </a:p>
                  </a:txBody>
                  <a:tcPr marL="128016" marR="128016" marT="73152" marB="73152">
                    <a:solidFill>
                      <a:srgbClr val="3854CC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Glomerulonefritis crónica (caso)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Pequeños y simétricos (7,8 cm)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Esclerosis glomerular global masiva (&gt; 85%) y superficie finamente granular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Hematuria macroscópica post-faringitis a los 26 años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Nefroesclerosis hipertensiva benigna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Simétricos, menos atróficos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Hialinosis arteriolar concéntrica predominante; esclerosis glomerular secundaria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Sin antecedentes de síndrome nefrítico juvenil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  <a:tr h="749807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Pielonefritis crónica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Asimétricos con retracciones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Cicatrices corticales en U y cálices deformados (cáliz en clava)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Antecedentes de litiasis o reflujo vesicoureteral</a:t>
                      </a:r>
                    </a:p>
                  </a:txBody>
                  <a:tcPr marL="128016" marR="128016" marT="54864" marB="54864">
                    <a:solidFill>
                      <a:srgbClr val="FFFFFF"/>
                    </a:solidFill>
                  </a:tcPr>
                </a:tc>
              </a:tr>
              <a:tr h="749811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3854CC"/>
                          </a:solidFill>
                          <a:latin typeface="Montserrat"/>
                        </a:rPr>
                        <a:t>Nefropatía diabética avanzada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Normales o aumentados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Nódulos de Kimmelstiel-Wilson PAS-positivos en el penacho capilar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2B2C4A"/>
                          </a:solidFill>
                          <a:latin typeface="Montserrat"/>
                        </a:rPr>
                        <a:t>Diabetes mellitus de larga evolución</a:t>
                      </a:r>
                    </a:p>
                  </a:txBody>
                  <a:tcPr marL="128016" marR="128016" marT="54864" marB="54864">
                    <a:solidFill>
                      <a:srgbClr val="EEF0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94360" y="5394959"/>
            <a:ext cx="10972800" cy="5303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1143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440679"/>
            <a:ext cx="105156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CONCLUSIÓN EDITORIAL:  La atrofia simétrica con esclerosis glomerular global y el antecedente nefrítico juvenil definen el caso.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DIAGNÓSTICO DEFINITIVO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Glomerulonefritis crónica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5710" y="4187952"/>
            <a:ext cx="249935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310" y="4187952"/>
            <a:ext cx="204215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Terapia sustitutiva renal urgente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73030" y="4187952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Hemodiálisis trisemanal o diálisis peritoneal inmediata.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96030" y="3246120"/>
            <a:ext cx="4998719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24630" y="3246120"/>
            <a:ext cx="454151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3854CC"/>
                </a:solidFill>
                <a:latin typeface="Montserrat"/>
              </a:rPr>
              <a:t>Control integral del riesgo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73030" y="3246120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Tensión arterial estricta, quelantes de fósforo y análogos de eritropoyetina.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46350" y="2304288"/>
            <a:ext cx="7498079" cy="868680"/>
          </a:xfrm>
          <a:prstGeom prst="roundRect">
            <a:avLst>
              <a:gd name="adj" fmla="val 4000"/>
            </a:avLst>
          </a:prstGeom>
          <a:solidFill>
            <a:srgbClr val="3854CC"/>
          </a:solidFill>
          <a:ln w="10160">
            <a:solidFill>
              <a:srgbClr val="D92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4950" y="2304288"/>
            <a:ext cx="7040879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ontserrat"/>
              </a:rPr>
              <a:t>Trasplante renal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73030" y="2304288"/>
            <a:ext cx="1463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 i="0">
                <a:solidFill>
                  <a:srgbClr val="606383"/>
                </a:solidFill>
                <a:latin typeface="Montserrat"/>
              </a:rPr>
              <a:t>Única terapéutica curativa definitiva.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ERC estadio G5 (TFGe &lt; 15 mL/min/1,73 m²) · Contraindicado: inmunosupresión, el parénquima esclerótico no es recuperable.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50" b="1" i="0">
                <a:solidFill>
                  <a:srgbClr val="CA2728"/>
                </a:solidFill>
                <a:latin typeface="Montserrat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30352"/>
            <a:ext cx="10972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2300" b="1" i="0">
                <a:solidFill>
                  <a:srgbClr val="3854CC"/>
                </a:solidFill>
                <a:latin typeface="Montserrat"/>
              </a:rPr>
              <a:t>Lo que este caso enseña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188720" cy="27432"/>
          </a:xfrm>
          <a:prstGeom prst="rect">
            <a:avLst/>
          </a:prstGeom>
          <a:solidFill>
            <a:srgbClr val="D92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10512" y="1179576"/>
            <a:ext cx="9784080" cy="9144"/>
          </a:xfrm>
          <a:prstGeom prst="rect">
            <a:avLst/>
          </a:prstGeom>
          <a:solidFill>
            <a:srgbClr val="D9D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6382512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0">
                <a:solidFill>
                  <a:srgbClr val="606383"/>
                </a:solidFill>
                <a:latin typeface="Montserrat"/>
              </a:rPr>
              <a:t>ANATOMÍA PATOLÓGICA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82512"/>
            <a:ext cx="822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300"/>
              </a:spcAft>
            </a:pPr>
            <a:r>
              <a:rPr sz="900" b="1" i="0">
                <a:solidFill>
                  <a:srgbClr val="606383"/>
                </a:solidFill>
                <a:latin typeface="Montserrat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6095390" y="1874519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298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390" y="4937760"/>
            <a:ext cx="0" cy="59436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529230" y="3703320"/>
            <a:ext cx="2331720" cy="0"/>
          </a:xfrm>
          <a:prstGeom prst="line">
            <a:avLst/>
          </a:prstGeom>
          <a:ln w="19050">
            <a:solidFill>
              <a:srgbClr val="D9DD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952390" y="32461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385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3830" y="3246120"/>
            <a:ext cx="21031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Montserrat"/>
              </a:rPr>
              <a:t>Riñón contraído 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52390" y="13944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89550" y="14676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Morfología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Riñón pálido, simétrico y finamente granular: 7,8 cm y 70 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1855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5571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Tríada histológica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Esclerosis global + atrofia con tiroidización + fibrosis colágena.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52390" y="5052059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89550" y="51252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Hiperfiltración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Pérdida de nefronas, hipertensión intraglomerular y fibrosis por TGF-β.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86230" y="32232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7620">
            <a:solidFill>
              <a:srgbClr val="D9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3390" y="3296412"/>
            <a:ext cx="2011680" cy="8138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3854CC"/>
                </a:solidFill>
                <a:latin typeface="Montserrat"/>
              </a:rPr>
              <a:t>Ventana terapéutica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B2C4A"/>
                </a:solidFill>
                <a:latin typeface="Montserrat"/>
              </a:rPr>
              <a:t>Tratar la glomerulopatía antes de la fibrosis irreversible.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053328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900" b="0" i="1">
                <a:solidFill>
                  <a:srgbClr val="606383"/>
                </a:solidFill>
                <a:latin typeface="Montserrat"/>
              </a:rPr>
              <a:t>Diagnóstico precoz: la única estrategia que evita la dependencia de diálisis.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